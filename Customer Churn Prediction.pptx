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A8978-7892-4BD8-A9EC-51AA47029033}" v="44" dt="2023-01-25T07:07:23.9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104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2A3A3F-E69D-445F-ACEA-62AFF2D35F1D}" type="datetimeFigureOut">
              <a:rPr lang="en-IN" smtClean="0"/>
              <a:t>25-01-2023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5FCEF3-CC92-4B19-AF85-88983A403A7F}" type="slidenum">
              <a:rPr lang="en-IN" smtClean="0"/>
              <a:t>‹#›</a:t>
            </a:fld>
            <a:endParaRPr lang="en-IN"/>
          </a:p>
        </p:txBody>
      </p:sp>
    </p:spTree>
    <p:extLst>
      <p:ext uri="{BB962C8B-B14F-4D97-AF65-F5344CB8AC3E}">
        <p14:creationId xmlns:p14="http://schemas.microsoft.com/office/powerpoint/2010/main" val="1794842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514B181-3244-4012-894E-3C8515D035AA}"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78B962-9E12-418F-BBA6-E45C76455476}" type="slidenum">
              <a:rPr lang="en-IN" smtClean="0"/>
              <a:t>‹#›</a:t>
            </a:fld>
            <a:endParaRPr lang="en-IN"/>
          </a:p>
        </p:txBody>
      </p:sp>
    </p:spTree>
    <p:extLst>
      <p:ext uri="{BB962C8B-B14F-4D97-AF65-F5344CB8AC3E}">
        <p14:creationId xmlns:p14="http://schemas.microsoft.com/office/powerpoint/2010/main" val="1954229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14B181-3244-4012-894E-3C8515D035AA}"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78B962-9E12-418F-BBA6-E45C76455476}" type="slidenum">
              <a:rPr lang="en-IN" smtClean="0"/>
              <a:t>‹#›</a:t>
            </a:fld>
            <a:endParaRPr lang="en-IN"/>
          </a:p>
        </p:txBody>
      </p:sp>
    </p:spTree>
    <p:extLst>
      <p:ext uri="{BB962C8B-B14F-4D97-AF65-F5344CB8AC3E}">
        <p14:creationId xmlns:p14="http://schemas.microsoft.com/office/powerpoint/2010/main" val="2110761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14B181-3244-4012-894E-3C8515D035AA}"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78B962-9E12-418F-BBA6-E45C76455476}" type="slidenum">
              <a:rPr lang="en-IN" smtClean="0"/>
              <a:t>‹#›</a:t>
            </a:fld>
            <a:endParaRPr lang="en-IN"/>
          </a:p>
        </p:txBody>
      </p:sp>
    </p:spTree>
    <p:extLst>
      <p:ext uri="{BB962C8B-B14F-4D97-AF65-F5344CB8AC3E}">
        <p14:creationId xmlns:p14="http://schemas.microsoft.com/office/powerpoint/2010/main" val="4138796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514B181-3244-4012-894E-3C8515D035AA}" type="datetimeFigureOut">
              <a:rPr lang="en-IN" smtClean="0"/>
              <a:t>25-01-2023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478B962-9E12-418F-BBA6-E45C76455476}" type="slidenum">
              <a:rPr lang="en-IN" smtClean="0"/>
              <a:t>‹#›</a:t>
            </a:fld>
            <a:endParaRPr lang="en-IN"/>
          </a:p>
        </p:txBody>
      </p:sp>
    </p:spTree>
    <p:extLst>
      <p:ext uri="{BB962C8B-B14F-4D97-AF65-F5344CB8AC3E}">
        <p14:creationId xmlns:p14="http://schemas.microsoft.com/office/powerpoint/2010/main" val="2370812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514B181-3244-4012-894E-3C8515D035AA}" type="datetimeFigureOut">
              <a:rPr lang="en-IN" smtClean="0"/>
              <a:t>25-01-2023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478B962-9E12-418F-BBA6-E45C76455476}" type="slidenum">
              <a:rPr lang="en-IN" smtClean="0"/>
              <a:t>‹#›</a:t>
            </a:fld>
            <a:endParaRPr lang="en-IN"/>
          </a:p>
        </p:txBody>
      </p:sp>
    </p:spTree>
    <p:extLst>
      <p:ext uri="{BB962C8B-B14F-4D97-AF65-F5344CB8AC3E}">
        <p14:creationId xmlns:p14="http://schemas.microsoft.com/office/powerpoint/2010/main" val="3916747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514B181-3244-4012-894E-3C8515D035AA}" type="datetimeFigureOut">
              <a:rPr lang="en-IN" smtClean="0"/>
              <a:t>25-01-2023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478B962-9E12-418F-BBA6-E45C76455476}" type="slidenum">
              <a:rPr lang="en-IN" smtClean="0"/>
              <a:t>‹#›</a:t>
            </a:fld>
            <a:endParaRPr lang="en-IN"/>
          </a:p>
        </p:txBody>
      </p:sp>
    </p:spTree>
    <p:extLst>
      <p:ext uri="{BB962C8B-B14F-4D97-AF65-F5344CB8AC3E}">
        <p14:creationId xmlns:p14="http://schemas.microsoft.com/office/powerpoint/2010/main" val="142052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14B181-3244-4012-894E-3C8515D035AA}" type="datetimeFigureOut">
              <a:rPr lang="en-IN" smtClean="0"/>
              <a:t>25-01-2023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478B962-9E12-418F-BBA6-E45C76455476}" type="slidenum">
              <a:rPr lang="en-IN" smtClean="0"/>
              <a:t>‹#›</a:t>
            </a:fld>
            <a:endParaRPr lang="en-IN"/>
          </a:p>
        </p:txBody>
      </p:sp>
    </p:spTree>
    <p:extLst>
      <p:ext uri="{BB962C8B-B14F-4D97-AF65-F5344CB8AC3E}">
        <p14:creationId xmlns:p14="http://schemas.microsoft.com/office/powerpoint/2010/main" val="1351979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514B181-3244-4012-894E-3C8515D035AA}" type="datetimeFigureOut">
              <a:rPr lang="en-IN" smtClean="0"/>
              <a:t>25-01-2023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478B962-9E12-418F-BBA6-E45C76455476}" type="slidenum">
              <a:rPr lang="en-IN" smtClean="0"/>
              <a:t>‹#›</a:t>
            </a:fld>
            <a:endParaRPr lang="en-IN"/>
          </a:p>
        </p:txBody>
      </p:sp>
    </p:spTree>
    <p:extLst>
      <p:ext uri="{BB962C8B-B14F-4D97-AF65-F5344CB8AC3E}">
        <p14:creationId xmlns:p14="http://schemas.microsoft.com/office/powerpoint/2010/main" val="3580839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14B181-3244-4012-894E-3C8515D035AA}" type="datetimeFigureOut">
              <a:rPr lang="en-IN" smtClean="0"/>
              <a:t>25-01-2023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478B962-9E12-418F-BBA6-E45C76455476}" type="slidenum">
              <a:rPr lang="en-IN" smtClean="0"/>
              <a:t>‹#›</a:t>
            </a:fld>
            <a:endParaRPr lang="en-IN"/>
          </a:p>
        </p:txBody>
      </p:sp>
    </p:spTree>
    <p:extLst>
      <p:ext uri="{BB962C8B-B14F-4D97-AF65-F5344CB8AC3E}">
        <p14:creationId xmlns:p14="http://schemas.microsoft.com/office/powerpoint/2010/main" val="2862687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14B181-3244-4012-894E-3C8515D035AA}"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78B962-9E12-418F-BBA6-E45C76455476}" type="slidenum">
              <a:rPr lang="en-IN" smtClean="0"/>
              <a:t>‹#›</a:t>
            </a:fld>
            <a:endParaRPr lang="en-IN"/>
          </a:p>
        </p:txBody>
      </p:sp>
    </p:spTree>
    <p:extLst>
      <p:ext uri="{BB962C8B-B14F-4D97-AF65-F5344CB8AC3E}">
        <p14:creationId xmlns:p14="http://schemas.microsoft.com/office/powerpoint/2010/main" val="2179211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14B181-3244-4012-894E-3C8515D035AA}"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78B962-9E12-418F-BBA6-E45C76455476}"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644274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14B181-3244-4012-894E-3C8515D035AA}"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78B962-9E12-418F-BBA6-E45C76455476}" type="slidenum">
              <a:rPr lang="en-IN" smtClean="0"/>
              <a:t>‹#›</a:t>
            </a:fld>
            <a:endParaRPr lang="en-IN"/>
          </a:p>
        </p:txBody>
      </p:sp>
    </p:spTree>
    <p:extLst>
      <p:ext uri="{BB962C8B-B14F-4D97-AF65-F5344CB8AC3E}">
        <p14:creationId xmlns:p14="http://schemas.microsoft.com/office/powerpoint/2010/main" val="36788404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14B181-3244-4012-894E-3C8515D035AA}"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78B962-9E12-418F-BBA6-E45C7645547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145131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14B181-3244-4012-894E-3C8515D035AA}"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78B962-9E12-418F-BBA6-E45C76455476}" type="slidenum">
              <a:rPr lang="en-IN" smtClean="0"/>
              <a:t>‹#›</a:t>
            </a:fld>
            <a:endParaRPr lang="en-IN"/>
          </a:p>
        </p:txBody>
      </p:sp>
    </p:spTree>
    <p:extLst>
      <p:ext uri="{BB962C8B-B14F-4D97-AF65-F5344CB8AC3E}">
        <p14:creationId xmlns:p14="http://schemas.microsoft.com/office/powerpoint/2010/main" val="20941041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14B181-3244-4012-894E-3C8515D035AA}"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78B962-9E12-418F-BBA6-E45C76455476}" type="slidenum">
              <a:rPr lang="en-IN" smtClean="0"/>
              <a:t>‹#›</a:t>
            </a:fld>
            <a:endParaRPr lang="en-IN"/>
          </a:p>
        </p:txBody>
      </p:sp>
    </p:spTree>
    <p:extLst>
      <p:ext uri="{BB962C8B-B14F-4D97-AF65-F5344CB8AC3E}">
        <p14:creationId xmlns:p14="http://schemas.microsoft.com/office/powerpoint/2010/main" val="1732574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14B181-3244-4012-894E-3C8515D035AA}" type="datetimeFigureOut">
              <a:rPr lang="en-IN" smtClean="0"/>
              <a:t>25-01-2023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478B962-9E12-418F-BBA6-E45C76455476}" type="slidenum">
              <a:rPr lang="en-IN" smtClean="0"/>
              <a:t>‹#›</a:t>
            </a:fld>
            <a:endParaRPr lang="en-IN"/>
          </a:p>
        </p:txBody>
      </p:sp>
    </p:spTree>
    <p:extLst>
      <p:ext uri="{BB962C8B-B14F-4D97-AF65-F5344CB8AC3E}">
        <p14:creationId xmlns:p14="http://schemas.microsoft.com/office/powerpoint/2010/main" val="255513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514B181-3244-4012-894E-3C8515D035AA}" type="datetimeFigureOut">
              <a:rPr lang="en-IN" smtClean="0"/>
              <a:t>25-01-2023</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478B962-9E12-418F-BBA6-E45C76455476}" type="slidenum">
              <a:rPr lang="en-IN" smtClean="0"/>
              <a:t>‹#›</a:t>
            </a:fld>
            <a:endParaRPr lang="en-IN"/>
          </a:p>
        </p:txBody>
      </p:sp>
    </p:spTree>
    <p:extLst>
      <p:ext uri="{BB962C8B-B14F-4D97-AF65-F5344CB8AC3E}">
        <p14:creationId xmlns:p14="http://schemas.microsoft.com/office/powerpoint/2010/main" val="969302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3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3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 Id="rId5" Type="http://schemas.openxmlformats.org/officeDocument/2006/relationships/image" Target="../media/image78.png"/><Relationship Id="rId4" Type="http://schemas.openxmlformats.org/officeDocument/2006/relationships/image" Target="../media/image77.png"/></Relationships>
</file>

<file path=ppt/slides/_rels/slide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5" Type="http://schemas.openxmlformats.org/officeDocument/2006/relationships/image" Target="../media/image82.png"/><Relationship Id="rId4" Type="http://schemas.openxmlformats.org/officeDocument/2006/relationships/image" Target="../media/image81.png"/></Relationships>
</file>

<file path=ppt/slides/_rels/slide3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 Id="rId5" Type="http://schemas.openxmlformats.org/officeDocument/2006/relationships/image" Target="../media/image86.png"/><Relationship Id="rId4" Type="http://schemas.openxmlformats.org/officeDocument/2006/relationships/image" Target="../media/image85.png"/></Relationships>
</file>

<file path=ppt/slides/_rels/slide3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7.xml"/><Relationship Id="rId5" Type="http://schemas.openxmlformats.org/officeDocument/2006/relationships/image" Target="../media/image90.png"/><Relationship Id="rId4" Type="http://schemas.openxmlformats.org/officeDocument/2006/relationships/image" Target="../media/image89.png"/></Relationships>
</file>

<file path=ppt/slides/_rels/slide3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7.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3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7.xml"/><Relationship Id="rId5" Type="http://schemas.openxmlformats.org/officeDocument/2006/relationships/image" Target="../media/image99.png"/><Relationship Id="rId4" Type="http://schemas.openxmlformats.org/officeDocument/2006/relationships/image" Target="../media/image98.png"/></Relationships>
</file>

<file path=ppt/slides/_rels/slide3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0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C579DC-C8BA-DB01-4A69-B336E0DCCCA7}"/>
              </a:ext>
            </a:extLst>
          </p:cNvPr>
          <p:cNvPicPr>
            <a:picLocks noChangeAspect="1"/>
          </p:cNvPicPr>
          <p:nvPr/>
        </p:nvPicPr>
        <p:blipFill>
          <a:blip r:embed="rId2"/>
          <a:stretch>
            <a:fillRect/>
          </a:stretch>
        </p:blipFill>
        <p:spPr>
          <a:xfrm>
            <a:off x="0" y="0"/>
            <a:ext cx="12192000" cy="5018809"/>
          </a:xfrm>
          <a:prstGeom prst="rect">
            <a:avLst/>
          </a:prstGeom>
        </p:spPr>
      </p:pic>
      <p:sp>
        <p:nvSpPr>
          <p:cNvPr id="7" name="TextBox 6">
            <a:extLst>
              <a:ext uri="{FF2B5EF4-FFF2-40B4-BE49-F238E27FC236}">
                <a16:creationId xmlns:a16="http://schemas.microsoft.com/office/drawing/2014/main" id="{59A63658-19F1-8E96-063D-4AD9EB4F8560}"/>
              </a:ext>
            </a:extLst>
          </p:cNvPr>
          <p:cNvSpPr txBox="1"/>
          <p:nvPr/>
        </p:nvSpPr>
        <p:spPr>
          <a:xfrm>
            <a:off x="-90488" y="5018809"/>
            <a:ext cx="12282488" cy="830997"/>
          </a:xfrm>
          <a:prstGeom prst="rect">
            <a:avLst/>
          </a:prstGeom>
          <a:noFill/>
        </p:spPr>
        <p:txBody>
          <a:bodyPr wrap="square">
            <a:spAutoFit/>
          </a:bodyPr>
          <a:lstStyle/>
          <a:p>
            <a:r>
              <a:rPr lang="en-IN" sz="4800">
                <a:highlight>
                  <a:srgbClr val="00FFFF"/>
                </a:highlight>
                <a:latin typeface="Algerian" panose="04020705040A02060702" pitchFamily="82" charset="0"/>
              </a:rPr>
              <a:t>TELECOM CUSTOMER CHURN PREDICTION</a:t>
            </a:r>
          </a:p>
        </p:txBody>
      </p:sp>
      <p:sp>
        <p:nvSpPr>
          <p:cNvPr id="8" name="TextBox 7">
            <a:extLst>
              <a:ext uri="{FF2B5EF4-FFF2-40B4-BE49-F238E27FC236}">
                <a16:creationId xmlns:a16="http://schemas.microsoft.com/office/drawing/2014/main" id="{2D72059B-2034-88A1-13DF-736B8D3ABCDE}"/>
              </a:ext>
            </a:extLst>
          </p:cNvPr>
          <p:cNvSpPr txBox="1"/>
          <p:nvPr/>
        </p:nvSpPr>
        <p:spPr>
          <a:xfrm>
            <a:off x="6096000" y="5849806"/>
            <a:ext cx="5198918" cy="830997"/>
          </a:xfrm>
          <a:prstGeom prst="rect">
            <a:avLst/>
          </a:prstGeom>
          <a:solidFill>
            <a:schemeClr val="tx2">
              <a:lumMod val="60000"/>
              <a:lumOff val="40000"/>
            </a:schemeClr>
          </a:solidFill>
        </p:spPr>
        <p:txBody>
          <a:bodyPr wrap="square" rtlCol="0">
            <a:spAutoFit/>
          </a:bodyPr>
          <a:lstStyle/>
          <a:p>
            <a:r>
              <a:rPr lang="en-IN" sz="4800"/>
              <a:t>Soumyajit Behera</a:t>
            </a:r>
          </a:p>
        </p:txBody>
      </p:sp>
    </p:spTree>
    <p:extLst>
      <p:ext uri="{BB962C8B-B14F-4D97-AF65-F5344CB8AC3E}">
        <p14:creationId xmlns:p14="http://schemas.microsoft.com/office/powerpoint/2010/main" val="2101463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6EE17E-6DD0-2B01-A012-B5D6C0B070B4}"/>
              </a:ext>
            </a:extLst>
          </p:cNvPr>
          <p:cNvPicPr>
            <a:picLocks noChangeAspect="1"/>
          </p:cNvPicPr>
          <p:nvPr/>
        </p:nvPicPr>
        <p:blipFill>
          <a:blip r:embed="rId2">
            <a:duotone>
              <a:prstClr val="black"/>
              <a:schemeClr val="accent5">
                <a:tint val="45000"/>
                <a:satMod val="400000"/>
              </a:schemeClr>
            </a:duotone>
          </a:blip>
          <a:stretch>
            <a:fillRect/>
          </a:stretch>
        </p:blipFill>
        <p:spPr>
          <a:xfrm>
            <a:off x="251979" y="170150"/>
            <a:ext cx="11531312" cy="4962959"/>
          </a:xfrm>
          <a:prstGeom prst="rect">
            <a:avLst/>
          </a:prstGeom>
        </p:spPr>
      </p:pic>
    </p:spTree>
    <p:extLst>
      <p:ext uri="{BB962C8B-B14F-4D97-AF65-F5344CB8AC3E}">
        <p14:creationId xmlns:p14="http://schemas.microsoft.com/office/powerpoint/2010/main" val="3035196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18467B-FDD3-619F-AF63-833E186F5742}"/>
              </a:ext>
            </a:extLst>
          </p:cNvPr>
          <p:cNvPicPr>
            <a:picLocks noChangeAspect="1"/>
          </p:cNvPicPr>
          <p:nvPr/>
        </p:nvPicPr>
        <p:blipFill>
          <a:blip r:embed="rId2">
            <a:duotone>
              <a:prstClr val="black"/>
              <a:schemeClr val="accent4">
                <a:tint val="45000"/>
                <a:satMod val="400000"/>
              </a:schemeClr>
            </a:duotone>
          </a:blip>
          <a:stretch>
            <a:fillRect/>
          </a:stretch>
        </p:blipFill>
        <p:spPr>
          <a:xfrm>
            <a:off x="2951019" y="0"/>
            <a:ext cx="5590308" cy="3456940"/>
          </a:xfrm>
          <a:prstGeom prst="rect">
            <a:avLst/>
          </a:prstGeom>
        </p:spPr>
      </p:pic>
      <p:pic>
        <p:nvPicPr>
          <p:cNvPr id="7" name="Picture 6">
            <a:extLst>
              <a:ext uri="{FF2B5EF4-FFF2-40B4-BE49-F238E27FC236}">
                <a16:creationId xmlns:a16="http://schemas.microsoft.com/office/drawing/2014/main" id="{574AE104-25AF-AAC6-2AD0-3D3128E30479}"/>
              </a:ext>
            </a:extLst>
          </p:cNvPr>
          <p:cNvPicPr>
            <a:picLocks noChangeAspect="1"/>
          </p:cNvPicPr>
          <p:nvPr/>
        </p:nvPicPr>
        <p:blipFill>
          <a:blip r:embed="rId3">
            <a:duotone>
              <a:prstClr val="black"/>
              <a:schemeClr val="accent4">
                <a:tint val="45000"/>
                <a:satMod val="400000"/>
              </a:schemeClr>
            </a:duotone>
          </a:blip>
          <a:stretch>
            <a:fillRect/>
          </a:stretch>
        </p:blipFill>
        <p:spPr>
          <a:xfrm>
            <a:off x="2951019" y="3456940"/>
            <a:ext cx="5590308" cy="3332249"/>
          </a:xfrm>
          <a:prstGeom prst="rect">
            <a:avLst/>
          </a:prstGeom>
        </p:spPr>
      </p:pic>
    </p:spTree>
    <p:extLst>
      <p:ext uri="{BB962C8B-B14F-4D97-AF65-F5344CB8AC3E}">
        <p14:creationId xmlns:p14="http://schemas.microsoft.com/office/powerpoint/2010/main" val="3408339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3B6CF2-30E0-1C35-1422-13E92088E817}"/>
              </a:ext>
            </a:extLst>
          </p:cNvPr>
          <p:cNvSpPr txBox="1"/>
          <p:nvPr/>
        </p:nvSpPr>
        <p:spPr>
          <a:xfrm>
            <a:off x="293543" y="262143"/>
            <a:ext cx="11302712" cy="707886"/>
          </a:xfrm>
          <a:prstGeom prst="rect">
            <a:avLst/>
          </a:prstGeom>
          <a:solidFill>
            <a:schemeClr val="accent5">
              <a:lumMod val="75000"/>
            </a:schemeClr>
          </a:solidFill>
        </p:spPr>
        <p:txBody>
          <a:bodyPr wrap="square">
            <a:spAutoFit/>
          </a:bodyPr>
          <a:lstStyle/>
          <a:p>
            <a:r>
              <a:rPr lang="en-IN" sz="4000"/>
              <a:t>1. Introduction</a:t>
            </a:r>
          </a:p>
        </p:txBody>
      </p:sp>
      <p:sp>
        <p:nvSpPr>
          <p:cNvPr id="5" name="TextBox 4">
            <a:extLst>
              <a:ext uri="{FF2B5EF4-FFF2-40B4-BE49-F238E27FC236}">
                <a16:creationId xmlns:a16="http://schemas.microsoft.com/office/drawing/2014/main" id="{16A9E45E-DEDE-50A2-D3DE-27F289779D29}"/>
              </a:ext>
            </a:extLst>
          </p:cNvPr>
          <p:cNvSpPr txBox="1"/>
          <p:nvPr/>
        </p:nvSpPr>
        <p:spPr>
          <a:xfrm>
            <a:off x="293543" y="1149617"/>
            <a:ext cx="11417012" cy="3139321"/>
          </a:xfrm>
          <a:prstGeom prst="rect">
            <a:avLst/>
          </a:prstGeom>
          <a:solidFill>
            <a:schemeClr val="accent6">
              <a:lumMod val="75000"/>
            </a:schemeClr>
          </a:solidFill>
        </p:spPr>
        <p:txBody>
          <a:bodyPr wrap="square">
            <a:spAutoFit/>
          </a:bodyPr>
          <a:lstStyle/>
          <a:p>
            <a:r>
              <a:rPr lang="en-US"/>
              <a:t>What is Customer Churn?</a:t>
            </a:r>
          </a:p>
          <a:p>
            <a:r>
              <a:rPr lang="en-US"/>
              <a:t>Customer churn is defined as when customers or subscribers discontinue doing business with a firm or service.</a:t>
            </a:r>
          </a:p>
          <a:p>
            <a:endParaRPr lang="en-US"/>
          </a:p>
          <a:p>
            <a:r>
              <a:rPr lang="en-US"/>
              <a:t>Customers in the telecom industry can choose from a variety of service providers and actively switch from one to the next. The telecommunications business has an annual churn rate of 15-25 percent in this highly competitive market.</a:t>
            </a:r>
          </a:p>
          <a:p>
            <a:endParaRPr lang="en-US"/>
          </a:p>
          <a:p>
            <a:r>
              <a:rPr lang="en-US"/>
              <a:t>Individualized customer retention is tough because most firms have a large number of customers and can't afford to devote much time to each of them. The costs would be too great, outweighing the additional revenue. However, if a corporation could forecast which customers are likely to leave ahead of time, it could focus customer retention efforts only on these "high risk" clients. The ultimate goal is to expand its coverage area and retrieve more customers loyalty. The core to succeed in this market lies in the customer itself.</a:t>
            </a:r>
            <a:endParaRPr lang="en-IN"/>
          </a:p>
        </p:txBody>
      </p:sp>
      <p:sp>
        <p:nvSpPr>
          <p:cNvPr id="7" name="TextBox 6">
            <a:extLst>
              <a:ext uri="{FF2B5EF4-FFF2-40B4-BE49-F238E27FC236}">
                <a16:creationId xmlns:a16="http://schemas.microsoft.com/office/drawing/2014/main" id="{72725175-2786-CF47-278D-D20613A79DFD}"/>
              </a:ext>
            </a:extLst>
          </p:cNvPr>
          <p:cNvSpPr txBox="1"/>
          <p:nvPr/>
        </p:nvSpPr>
        <p:spPr>
          <a:xfrm>
            <a:off x="293543" y="4288938"/>
            <a:ext cx="11417012" cy="1477328"/>
          </a:xfrm>
          <a:prstGeom prst="rect">
            <a:avLst/>
          </a:prstGeom>
          <a:solidFill>
            <a:schemeClr val="accent6">
              <a:lumMod val="75000"/>
            </a:schemeClr>
          </a:solidFill>
        </p:spPr>
        <p:txBody>
          <a:bodyPr wrap="square">
            <a:spAutoFit/>
          </a:bodyPr>
          <a:lstStyle/>
          <a:p>
            <a:r>
              <a:rPr lang="en-US"/>
              <a:t>To reduce customer churn, telecom companies need to predict which customers are at high risk of churn.</a:t>
            </a:r>
          </a:p>
          <a:p>
            <a:endParaRPr lang="en-US"/>
          </a:p>
          <a:p>
            <a:r>
              <a:rPr lang="en-US"/>
              <a:t>To detect early signs of potential churn, one must first develop a holistic view of the customers and their interactions across numerous channels, including store/branch visits, product purchase histories, customer service calls, Web-based transactions, and social media interactions, to mention a few.</a:t>
            </a:r>
            <a:endParaRPr lang="en-IN"/>
          </a:p>
        </p:txBody>
      </p:sp>
    </p:spTree>
    <p:extLst>
      <p:ext uri="{BB962C8B-B14F-4D97-AF65-F5344CB8AC3E}">
        <p14:creationId xmlns:p14="http://schemas.microsoft.com/office/powerpoint/2010/main" val="2708116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48DEB4-5230-2120-9082-AE3233C70EB7}"/>
              </a:ext>
            </a:extLst>
          </p:cNvPr>
          <p:cNvSpPr txBox="1"/>
          <p:nvPr/>
        </p:nvSpPr>
        <p:spPr>
          <a:xfrm>
            <a:off x="303933" y="158234"/>
            <a:ext cx="11427403" cy="584775"/>
          </a:xfrm>
          <a:prstGeom prst="rect">
            <a:avLst/>
          </a:prstGeom>
          <a:solidFill>
            <a:schemeClr val="accent5">
              <a:lumMod val="75000"/>
            </a:schemeClr>
          </a:solidFill>
        </p:spPr>
        <p:txBody>
          <a:bodyPr wrap="square">
            <a:spAutoFit/>
          </a:bodyPr>
          <a:lstStyle/>
          <a:p>
            <a:r>
              <a:rPr lang="en-US" sz="3200"/>
              <a:t>2. Loading libraries and data</a:t>
            </a:r>
            <a:endParaRPr lang="en-IN" sz="3200"/>
          </a:p>
        </p:txBody>
      </p:sp>
      <p:pic>
        <p:nvPicPr>
          <p:cNvPr id="5" name="Picture 4">
            <a:extLst>
              <a:ext uri="{FF2B5EF4-FFF2-40B4-BE49-F238E27FC236}">
                <a16:creationId xmlns:a16="http://schemas.microsoft.com/office/drawing/2014/main" id="{7E9FFB16-2F2C-6BC0-13EF-406B0D275610}"/>
              </a:ext>
            </a:extLst>
          </p:cNvPr>
          <p:cNvPicPr>
            <a:picLocks noChangeAspect="1"/>
          </p:cNvPicPr>
          <p:nvPr/>
        </p:nvPicPr>
        <p:blipFill>
          <a:blip r:embed="rId2">
            <a:duotone>
              <a:prstClr val="black"/>
              <a:schemeClr val="accent6">
                <a:tint val="45000"/>
                <a:satMod val="400000"/>
              </a:schemeClr>
            </a:duotone>
          </a:blip>
          <a:stretch>
            <a:fillRect/>
          </a:stretch>
        </p:blipFill>
        <p:spPr>
          <a:xfrm>
            <a:off x="303933" y="967527"/>
            <a:ext cx="3852431" cy="2461473"/>
          </a:xfrm>
          <a:prstGeom prst="rect">
            <a:avLst/>
          </a:prstGeom>
        </p:spPr>
      </p:pic>
      <p:pic>
        <p:nvPicPr>
          <p:cNvPr id="7" name="Picture 6">
            <a:extLst>
              <a:ext uri="{FF2B5EF4-FFF2-40B4-BE49-F238E27FC236}">
                <a16:creationId xmlns:a16="http://schemas.microsoft.com/office/drawing/2014/main" id="{40CCEBB2-A57B-7B59-9645-AEC86596CC38}"/>
              </a:ext>
            </a:extLst>
          </p:cNvPr>
          <p:cNvPicPr>
            <a:picLocks noChangeAspect="1"/>
          </p:cNvPicPr>
          <p:nvPr/>
        </p:nvPicPr>
        <p:blipFill>
          <a:blip r:embed="rId3">
            <a:duotone>
              <a:prstClr val="black"/>
              <a:schemeClr val="accent6">
                <a:tint val="45000"/>
                <a:satMod val="400000"/>
              </a:schemeClr>
            </a:duotone>
          </a:blip>
          <a:stretch>
            <a:fillRect/>
          </a:stretch>
        </p:blipFill>
        <p:spPr>
          <a:xfrm>
            <a:off x="4156364" y="967527"/>
            <a:ext cx="7574972" cy="5620309"/>
          </a:xfrm>
          <a:prstGeom prst="rect">
            <a:avLst/>
          </a:prstGeom>
        </p:spPr>
      </p:pic>
    </p:spTree>
    <p:extLst>
      <p:ext uri="{BB962C8B-B14F-4D97-AF65-F5344CB8AC3E}">
        <p14:creationId xmlns:p14="http://schemas.microsoft.com/office/powerpoint/2010/main" val="2261725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89E90E-F31D-C7FE-B9BF-49623C5FE021}"/>
              </a:ext>
            </a:extLst>
          </p:cNvPr>
          <p:cNvSpPr txBox="1"/>
          <p:nvPr/>
        </p:nvSpPr>
        <p:spPr>
          <a:xfrm>
            <a:off x="137680" y="172180"/>
            <a:ext cx="11479356" cy="400110"/>
          </a:xfrm>
          <a:prstGeom prst="rect">
            <a:avLst/>
          </a:prstGeom>
          <a:solidFill>
            <a:schemeClr val="accent4">
              <a:lumMod val="60000"/>
              <a:lumOff val="40000"/>
            </a:schemeClr>
          </a:solidFill>
        </p:spPr>
        <p:txBody>
          <a:bodyPr wrap="square">
            <a:spAutoFit/>
          </a:bodyPr>
          <a:lstStyle/>
          <a:p>
            <a:r>
              <a:rPr lang="en-IN" sz="2000"/>
              <a:t>df = pd.read_csv(r"C:\Users\neeko\Dropbox\PC\Downloads\WA_Fn-UseC_-Telco-Customer-Churn.csv")</a:t>
            </a:r>
          </a:p>
        </p:txBody>
      </p:sp>
      <p:sp>
        <p:nvSpPr>
          <p:cNvPr id="5" name="TextBox 4">
            <a:extLst>
              <a:ext uri="{FF2B5EF4-FFF2-40B4-BE49-F238E27FC236}">
                <a16:creationId xmlns:a16="http://schemas.microsoft.com/office/drawing/2014/main" id="{7170D79B-004D-5A0E-D1B0-DCD87AA56BEF}"/>
              </a:ext>
            </a:extLst>
          </p:cNvPr>
          <p:cNvSpPr txBox="1"/>
          <p:nvPr/>
        </p:nvSpPr>
        <p:spPr>
          <a:xfrm>
            <a:off x="137679" y="572290"/>
            <a:ext cx="11479355" cy="584775"/>
          </a:xfrm>
          <a:prstGeom prst="rect">
            <a:avLst/>
          </a:prstGeom>
          <a:solidFill>
            <a:schemeClr val="accent5">
              <a:lumMod val="75000"/>
            </a:schemeClr>
          </a:solidFill>
        </p:spPr>
        <p:txBody>
          <a:bodyPr wrap="square">
            <a:spAutoFit/>
          </a:bodyPr>
          <a:lstStyle/>
          <a:p>
            <a:r>
              <a:rPr lang="en-IN" sz="3200"/>
              <a:t>3. Undertanding the data</a:t>
            </a:r>
          </a:p>
        </p:txBody>
      </p:sp>
      <p:pic>
        <p:nvPicPr>
          <p:cNvPr id="7" name="Picture 6">
            <a:extLst>
              <a:ext uri="{FF2B5EF4-FFF2-40B4-BE49-F238E27FC236}">
                <a16:creationId xmlns:a16="http://schemas.microsoft.com/office/drawing/2014/main" id="{BD41B666-9AA1-A146-84BF-85E3FA99A427}"/>
              </a:ext>
            </a:extLst>
          </p:cNvPr>
          <p:cNvPicPr>
            <a:picLocks noChangeAspect="1"/>
          </p:cNvPicPr>
          <p:nvPr/>
        </p:nvPicPr>
        <p:blipFill>
          <a:blip r:embed="rId2">
            <a:duotone>
              <a:prstClr val="black"/>
              <a:schemeClr val="accent6">
                <a:tint val="45000"/>
                <a:satMod val="400000"/>
              </a:schemeClr>
            </a:duotone>
          </a:blip>
          <a:stretch>
            <a:fillRect/>
          </a:stretch>
        </p:blipFill>
        <p:spPr>
          <a:xfrm>
            <a:off x="137677" y="1157065"/>
            <a:ext cx="9858376" cy="3285767"/>
          </a:xfrm>
          <a:prstGeom prst="rect">
            <a:avLst/>
          </a:prstGeom>
        </p:spPr>
      </p:pic>
      <p:pic>
        <p:nvPicPr>
          <p:cNvPr id="9" name="Picture 8">
            <a:extLst>
              <a:ext uri="{FF2B5EF4-FFF2-40B4-BE49-F238E27FC236}">
                <a16:creationId xmlns:a16="http://schemas.microsoft.com/office/drawing/2014/main" id="{B5BEABE5-B4F3-8667-1AA5-A02E7E10D3C3}"/>
              </a:ext>
            </a:extLst>
          </p:cNvPr>
          <p:cNvPicPr>
            <a:picLocks noChangeAspect="1"/>
          </p:cNvPicPr>
          <p:nvPr/>
        </p:nvPicPr>
        <p:blipFill>
          <a:blip r:embed="rId3">
            <a:duotone>
              <a:prstClr val="black"/>
              <a:schemeClr val="accent6">
                <a:tint val="45000"/>
                <a:satMod val="400000"/>
              </a:schemeClr>
            </a:duotone>
          </a:blip>
          <a:stretch>
            <a:fillRect/>
          </a:stretch>
        </p:blipFill>
        <p:spPr>
          <a:xfrm>
            <a:off x="137677" y="4442832"/>
            <a:ext cx="9858376" cy="990686"/>
          </a:xfrm>
          <a:prstGeom prst="rect">
            <a:avLst/>
          </a:prstGeom>
        </p:spPr>
      </p:pic>
    </p:spTree>
    <p:extLst>
      <p:ext uri="{BB962C8B-B14F-4D97-AF65-F5344CB8AC3E}">
        <p14:creationId xmlns:p14="http://schemas.microsoft.com/office/powerpoint/2010/main" val="2360783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7653BD-F0F5-8A9D-9776-2E09AFE76CF5}"/>
              </a:ext>
            </a:extLst>
          </p:cNvPr>
          <p:cNvPicPr>
            <a:picLocks noChangeAspect="1"/>
          </p:cNvPicPr>
          <p:nvPr/>
        </p:nvPicPr>
        <p:blipFill>
          <a:blip r:embed="rId2">
            <a:duotone>
              <a:prstClr val="black"/>
              <a:schemeClr val="accent6">
                <a:tint val="45000"/>
                <a:satMod val="400000"/>
              </a:schemeClr>
            </a:duotone>
          </a:blip>
          <a:stretch>
            <a:fillRect/>
          </a:stretch>
        </p:blipFill>
        <p:spPr>
          <a:xfrm>
            <a:off x="208896" y="208798"/>
            <a:ext cx="11387359" cy="1348857"/>
          </a:xfrm>
          <a:prstGeom prst="rect">
            <a:avLst/>
          </a:prstGeom>
        </p:spPr>
      </p:pic>
      <p:pic>
        <p:nvPicPr>
          <p:cNvPr id="5" name="Picture 4">
            <a:extLst>
              <a:ext uri="{FF2B5EF4-FFF2-40B4-BE49-F238E27FC236}">
                <a16:creationId xmlns:a16="http://schemas.microsoft.com/office/drawing/2014/main" id="{FDD402E5-830B-13F8-5D1B-DF03FECCE034}"/>
              </a:ext>
            </a:extLst>
          </p:cNvPr>
          <p:cNvPicPr>
            <a:picLocks noChangeAspect="1"/>
          </p:cNvPicPr>
          <p:nvPr/>
        </p:nvPicPr>
        <p:blipFill>
          <a:blip r:embed="rId3">
            <a:duotone>
              <a:prstClr val="black"/>
              <a:schemeClr val="accent4">
                <a:tint val="45000"/>
                <a:satMod val="400000"/>
              </a:schemeClr>
            </a:duotone>
          </a:blip>
          <a:stretch>
            <a:fillRect/>
          </a:stretch>
        </p:blipFill>
        <p:spPr>
          <a:xfrm>
            <a:off x="208896" y="1820743"/>
            <a:ext cx="3825572" cy="5037257"/>
          </a:xfrm>
          <a:prstGeom prst="rect">
            <a:avLst/>
          </a:prstGeom>
        </p:spPr>
      </p:pic>
      <p:pic>
        <p:nvPicPr>
          <p:cNvPr id="7" name="Picture 6">
            <a:extLst>
              <a:ext uri="{FF2B5EF4-FFF2-40B4-BE49-F238E27FC236}">
                <a16:creationId xmlns:a16="http://schemas.microsoft.com/office/drawing/2014/main" id="{7B54CDBA-006E-6600-A17A-93E229096C5E}"/>
              </a:ext>
            </a:extLst>
          </p:cNvPr>
          <p:cNvPicPr>
            <a:picLocks noChangeAspect="1"/>
          </p:cNvPicPr>
          <p:nvPr/>
        </p:nvPicPr>
        <p:blipFill>
          <a:blip r:embed="rId4">
            <a:duotone>
              <a:prstClr val="black"/>
              <a:schemeClr val="accent4">
                <a:tint val="45000"/>
                <a:satMod val="400000"/>
              </a:schemeClr>
            </a:duotone>
          </a:blip>
          <a:stretch>
            <a:fillRect/>
          </a:stretch>
        </p:blipFill>
        <p:spPr>
          <a:xfrm>
            <a:off x="4034468" y="1820743"/>
            <a:ext cx="3680779" cy="708721"/>
          </a:xfrm>
          <a:prstGeom prst="rect">
            <a:avLst/>
          </a:prstGeom>
        </p:spPr>
      </p:pic>
    </p:spTree>
    <p:extLst>
      <p:ext uri="{BB962C8B-B14F-4D97-AF65-F5344CB8AC3E}">
        <p14:creationId xmlns:p14="http://schemas.microsoft.com/office/powerpoint/2010/main" val="3327301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004BC0-5810-6DA0-8083-41A0C40C6E31}"/>
              </a:ext>
            </a:extLst>
          </p:cNvPr>
          <p:cNvPicPr>
            <a:picLocks noChangeAspect="1"/>
          </p:cNvPicPr>
          <p:nvPr/>
        </p:nvPicPr>
        <p:blipFill>
          <a:blip r:embed="rId2">
            <a:duotone>
              <a:prstClr val="black"/>
              <a:schemeClr val="accent4">
                <a:tint val="45000"/>
                <a:satMod val="400000"/>
              </a:schemeClr>
            </a:duotone>
          </a:blip>
          <a:stretch>
            <a:fillRect/>
          </a:stretch>
        </p:blipFill>
        <p:spPr>
          <a:xfrm>
            <a:off x="279602" y="191447"/>
            <a:ext cx="8479933" cy="1710089"/>
          </a:xfrm>
          <a:prstGeom prst="rect">
            <a:avLst/>
          </a:prstGeom>
        </p:spPr>
      </p:pic>
      <p:sp>
        <p:nvSpPr>
          <p:cNvPr id="7" name="TextBox 6">
            <a:extLst>
              <a:ext uri="{FF2B5EF4-FFF2-40B4-BE49-F238E27FC236}">
                <a16:creationId xmlns:a16="http://schemas.microsoft.com/office/drawing/2014/main" id="{D164CA40-E7F7-28C4-0D41-50BB12B12D72}"/>
              </a:ext>
            </a:extLst>
          </p:cNvPr>
          <p:cNvSpPr txBox="1"/>
          <p:nvPr/>
        </p:nvSpPr>
        <p:spPr>
          <a:xfrm>
            <a:off x="279601" y="1997425"/>
            <a:ext cx="11617989" cy="584775"/>
          </a:xfrm>
          <a:prstGeom prst="rect">
            <a:avLst/>
          </a:prstGeom>
          <a:solidFill>
            <a:schemeClr val="accent5">
              <a:lumMod val="75000"/>
            </a:schemeClr>
          </a:solidFill>
        </p:spPr>
        <p:txBody>
          <a:bodyPr wrap="square">
            <a:spAutoFit/>
          </a:bodyPr>
          <a:lstStyle/>
          <a:p>
            <a:r>
              <a:rPr lang="en-IN" sz="3200"/>
              <a:t>4. Visualize missing values</a:t>
            </a:r>
          </a:p>
        </p:txBody>
      </p:sp>
      <p:pic>
        <p:nvPicPr>
          <p:cNvPr id="9" name="Picture 8">
            <a:extLst>
              <a:ext uri="{FF2B5EF4-FFF2-40B4-BE49-F238E27FC236}">
                <a16:creationId xmlns:a16="http://schemas.microsoft.com/office/drawing/2014/main" id="{F10A026B-C4E6-8C79-CC57-F084F456B223}"/>
              </a:ext>
            </a:extLst>
          </p:cNvPr>
          <p:cNvPicPr>
            <a:picLocks noChangeAspect="1"/>
          </p:cNvPicPr>
          <p:nvPr/>
        </p:nvPicPr>
        <p:blipFill>
          <a:blip r:embed="rId3"/>
          <a:stretch>
            <a:fillRect/>
          </a:stretch>
        </p:blipFill>
        <p:spPr>
          <a:xfrm>
            <a:off x="279601" y="2608119"/>
            <a:ext cx="8292899" cy="3558848"/>
          </a:xfrm>
          <a:prstGeom prst="rect">
            <a:avLst/>
          </a:prstGeom>
        </p:spPr>
      </p:pic>
      <p:pic>
        <p:nvPicPr>
          <p:cNvPr id="11" name="Picture 10">
            <a:extLst>
              <a:ext uri="{FF2B5EF4-FFF2-40B4-BE49-F238E27FC236}">
                <a16:creationId xmlns:a16="http://schemas.microsoft.com/office/drawing/2014/main" id="{B8273CE1-70B3-3AFA-D901-184BD75C10C3}"/>
              </a:ext>
            </a:extLst>
          </p:cNvPr>
          <p:cNvPicPr>
            <a:picLocks noChangeAspect="1"/>
          </p:cNvPicPr>
          <p:nvPr/>
        </p:nvPicPr>
        <p:blipFill>
          <a:blip r:embed="rId4">
            <a:duotone>
              <a:prstClr val="black"/>
              <a:schemeClr val="accent6">
                <a:tint val="45000"/>
                <a:satMod val="400000"/>
              </a:schemeClr>
            </a:duotone>
          </a:blip>
          <a:stretch>
            <a:fillRect/>
          </a:stretch>
        </p:blipFill>
        <p:spPr>
          <a:xfrm>
            <a:off x="279601" y="6174863"/>
            <a:ext cx="7908436" cy="683137"/>
          </a:xfrm>
          <a:prstGeom prst="rect">
            <a:avLst/>
          </a:prstGeom>
        </p:spPr>
      </p:pic>
    </p:spTree>
    <p:extLst>
      <p:ext uri="{BB962C8B-B14F-4D97-AF65-F5344CB8AC3E}">
        <p14:creationId xmlns:p14="http://schemas.microsoft.com/office/powerpoint/2010/main" val="1762380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78F13C-2A83-CD1B-9FFE-61DB905D20BD}"/>
              </a:ext>
            </a:extLst>
          </p:cNvPr>
          <p:cNvSpPr txBox="1"/>
          <p:nvPr/>
        </p:nvSpPr>
        <p:spPr>
          <a:xfrm>
            <a:off x="168851" y="241361"/>
            <a:ext cx="11427403" cy="707886"/>
          </a:xfrm>
          <a:prstGeom prst="rect">
            <a:avLst/>
          </a:prstGeom>
          <a:solidFill>
            <a:schemeClr val="accent5">
              <a:lumMod val="75000"/>
            </a:schemeClr>
          </a:solidFill>
        </p:spPr>
        <p:txBody>
          <a:bodyPr wrap="square">
            <a:spAutoFit/>
          </a:bodyPr>
          <a:lstStyle/>
          <a:p>
            <a:r>
              <a:rPr lang="en-IN" sz="4000"/>
              <a:t>5. Data Manipulation</a:t>
            </a:r>
          </a:p>
        </p:txBody>
      </p:sp>
      <p:pic>
        <p:nvPicPr>
          <p:cNvPr id="7" name="Picture 6">
            <a:extLst>
              <a:ext uri="{FF2B5EF4-FFF2-40B4-BE49-F238E27FC236}">
                <a16:creationId xmlns:a16="http://schemas.microsoft.com/office/drawing/2014/main" id="{C9306001-C797-1378-D229-22FE29F42011}"/>
              </a:ext>
            </a:extLst>
          </p:cNvPr>
          <p:cNvPicPr>
            <a:picLocks noChangeAspect="1"/>
          </p:cNvPicPr>
          <p:nvPr/>
        </p:nvPicPr>
        <p:blipFill>
          <a:blip r:embed="rId2">
            <a:duotone>
              <a:prstClr val="black"/>
              <a:schemeClr val="accent6">
                <a:tint val="45000"/>
                <a:satMod val="400000"/>
              </a:schemeClr>
            </a:duotone>
          </a:blip>
          <a:stretch>
            <a:fillRect/>
          </a:stretch>
        </p:blipFill>
        <p:spPr>
          <a:xfrm>
            <a:off x="168851" y="949247"/>
            <a:ext cx="5764358" cy="647756"/>
          </a:xfrm>
          <a:prstGeom prst="rect">
            <a:avLst/>
          </a:prstGeom>
        </p:spPr>
      </p:pic>
      <p:pic>
        <p:nvPicPr>
          <p:cNvPr id="9" name="Picture 8">
            <a:extLst>
              <a:ext uri="{FF2B5EF4-FFF2-40B4-BE49-F238E27FC236}">
                <a16:creationId xmlns:a16="http://schemas.microsoft.com/office/drawing/2014/main" id="{CFD1E3C7-01BB-160D-9AB8-2EE1CFFA152D}"/>
              </a:ext>
            </a:extLst>
          </p:cNvPr>
          <p:cNvPicPr>
            <a:picLocks noChangeAspect="1"/>
          </p:cNvPicPr>
          <p:nvPr/>
        </p:nvPicPr>
        <p:blipFill>
          <a:blip r:embed="rId3">
            <a:duotone>
              <a:prstClr val="black"/>
              <a:schemeClr val="accent6">
                <a:tint val="45000"/>
                <a:satMod val="400000"/>
              </a:schemeClr>
            </a:duotone>
          </a:blip>
          <a:stretch>
            <a:fillRect/>
          </a:stretch>
        </p:blipFill>
        <p:spPr>
          <a:xfrm>
            <a:off x="168851" y="1597003"/>
            <a:ext cx="7281431" cy="792906"/>
          </a:xfrm>
          <a:prstGeom prst="rect">
            <a:avLst/>
          </a:prstGeom>
        </p:spPr>
      </p:pic>
      <p:pic>
        <p:nvPicPr>
          <p:cNvPr id="11" name="Picture 10">
            <a:extLst>
              <a:ext uri="{FF2B5EF4-FFF2-40B4-BE49-F238E27FC236}">
                <a16:creationId xmlns:a16="http://schemas.microsoft.com/office/drawing/2014/main" id="{E7BBE501-8DC9-EFB1-EC7B-EC8F1304C401}"/>
              </a:ext>
            </a:extLst>
          </p:cNvPr>
          <p:cNvPicPr>
            <a:picLocks noChangeAspect="1"/>
          </p:cNvPicPr>
          <p:nvPr/>
        </p:nvPicPr>
        <p:blipFill>
          <a:blip r:embed="rId4">
            <a:duotone>
              <a:prstClr val="black"/>
              <a:schemeClr val="accent4">
                <a:tint val="45000"/>
                <a:satMod val="400000"/>
              </a:schemeClr>
            </a:duotone>
          </a:blip>
          <a:stretch>
            <a:fillRect/>
          </a:stretch>
        </p:blipFill>
        <p:spPr>
          <a:xfrm>
            <a:off x="168851" y="2436980"/>
            <a:ext cx="2049958" cy="3226065"/>
          </a:xfrm>
          <a:prstGeom prst="rect">
            <a:avLst/>
          </a:prstGeom>
        </p:spPr>
      </p:pic>
      <p:pic>
        <p:nvPicPr>
          <p:cNvPr id="13" name="Picture 12">
            <a:extLst>
              <a:ext uri="{FF2B5EF4-FFF2-40B4-BE49-F238E27FC236}">
                <a16:creationId xmlns:a16="http://schemas.microsoft.com/office/drawing/2014/main" id="{49EBF134-552C-17F5-AE1C-9C9390860875}"/>
              </a:ext>
            </a:extLst>
          </p:cNvPr>
          <p:cNvPicPr>
            <a:picLocks noChangeAspect="1"/>
          </p:cNvPicPr>
          <p:nvPr/>
        </p:nvPicPr>
        <p:blipFill>
          <a:blip r:embed="rId5">
            <a:duotone>
              <a:prstClr val="black"/>
              <a:schemeClr val="accent4">
                <a:tint val="45000"/>
                <a:satMod val="400000"/>
              </a:schemeClr>
            </a:duotone>
          </a:blip>
          <a:stretch>
            <a:fillRect/>
          </a:stretch>
        </p:blipFill>
        <p:spPr>
          <a:xfrm>
            <a:off x="2218809" y="2436980"/>
            <a:ext cx="2080440" cy="2561047"/>
          </a:xfrm>
          <a:prstGeom prst="rect">
            <a:avLst/>
          </a:prstGeom>
        </p:spPr>
      </p:pic>
      <p:sp>
        <p:nvSpPr>
          <p:cNvPr id="15" name="TextBox 14">
            <a:extLst>
              <a:ext uri="{FF2B5EF4-FFF2-40B4-BE49-F238E27FC236}">
                <a16:creationId xmlns:a16="http://schemas.microsoft.com/office/drawing/2014/main" id="{702C8091-6846-06CA-2FEF-D4A615E12E2A}"/>
              </a:ext>
            </a:extLst>
          </p:cNvPr>
          <p:cNvSpPr txBox="1"/>
          <p:nvPr/>
        </p:nvSpPr>
        <p:spPr>
          <a:xfrm>
            <a:off x="168850" y="5710116"/>
            <a:ext cx="11240367" cy="369332"/>
          </a:xfrm>
          <a:prstGeom prst="rect">
            <a:avLst/>
          </a:prstGeom>
          <a:noFill/>
        </p:spPr>
        <p:txBody>
          <a:bodyPr wrap="square">
            <a:spAutoFit/>
          </a:bodyPr>
          <a:lstStyle/>
          <a:p>
            <a:r>
              <a:rPr lang="en-US"/>
              <a:t>Here we see that the TotalCharges has 11 missing values. Let's check this data</a:t>
            </a:r>
            <a:endParaRPr lang="en-IN"/>
          </a:p>
        </p:txBody>
      </p:sp>
    </p:spTree>
    <p:extLst>
      <p:ext uri="{BB962C8B-B14F-4D97-AF65-F5344CB8AC3E}">
        <p14:creationId xmlns:p14="http://schemas.microsoft.com/office/powerpoint/2010/main" val="808671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58D18D-6D09-89E6-0429-CCB894E3C869}"/>
              </a:ext>
            </a:extLst>
          </p:cNvPr>
          <p:cNvPicPr>
            <a:picLocks noChangeAspect="1"/>
          </p:cNvPicPr>
          <p:nvPr/>
        </p:nvPicPr>
        <p:blipFill>
          <a:blip r:embed="rId2">
            <a:duotone>
              <a:prstClr val="black"/>
              <a:schemeClr val="accent6">
                <a:tint val="45000"/>
                <a:satMod val="400000"/>
              </a:schemeClr>
            </a:duotone>
          </a:blip>
          <a:stretch>
            <a:fillRect/>
          </a:stretch>
        </p:blipFill>
        <p:spPr>
          <a:xfrm>
            <a:off x="199365" y="197406"/>
            <a:ext cx="5120780" cy="457240"/>
          </a:xfrm>
          <a:prstGeom prst="rect">
            <a:avLst/>
          </a:prstGeom>
        </p:spPr>
      </p:pic>
      <p:pic>
        <p:nvPicPr>
          <p:cNvPr id="5" name="Picture 4">
            <a:extLst>
              <a:ext uri="{FF2B5EF4-FFF2-40B4-BE49-F238E27FC236}">
                <a16:creationId xmlns:a16="http://schemas.microsoft.com/office/drawing/2014/main" id="{EFF38D72-010C-EF60-0042-C6F330F9D286}"/>
              </a:ext>
            </a:extLst>
          </p:cNvPr>
          <p:cNvPicPr>
            <a:picLocks noChangeAspect="1"/>
          </p:cNvPicPr>
          <p:nvPr/>
        </p:nvPicPr>
        <p:blipFill>
          <a:blip r:embed="rId3">
            <a:duotone>
              <a:prstClr val="black"/>
              <a:schemeClr val="accent2">
                <a:tint val="45000"/>
                <a:satMod val="400000"/>
              </a:schemeClr>
            </a:duotone>
          </a:blip>
          <a:stretch>
            <a:fillRect/>
          </a:stretch>
        </p:blipFill>
        <p:spPr>
          <a:xfrm>
            <a:off x="199365" y="580121"/>
            <a:ext cx="8684862" cy="876376"/>
          </a:xfrm>
          <a:prstGeom prst="rect">
            <a:avLst/>
          </a:prstGeom>
        </p:spPr>
      </p:pic>
      <p:pic>
        <p:nvPicPr>
          <p:cNvPr id="7" name="Picture 6">
            <a:extLst>
              <a:ext uri="{FF2B5EF4-FFF2-40B4-BE49-F238E27FC236}">
                <a16:creationId xmlns:a16="http://schemas.microsoft.com/office/drawing/2014/main" id="{0DED247A-D779-88F9-4E9C-882CF610984A}"/>
              </a:ext>
            </a:extLst>
          </p:cNvPr>
          <p:cNvPicPr>
            <a:picLocks noChangeAspect="1"/>
          </p:cNvPicPr>
          <p:nvPr/>
        </p:nvPicPr>
        <p:blipFill>
          <a:blip r:embed="rId4">
            <a:duotone>
              <a:prstClr val="black"/>
              <a:schemeClr val="accent4">
                <a:tint val="45000"/>
                <a:satMod val="400000"/>
              </a:schemeClr>
            </a:duotone>
          </a:blip>
          <a:stretch>
            <a:fillRect/>
          </a:stretch>
        </p:blipFill>
        <p:spPr>
          <a:xfrm>
            <a:off x="199365" y="1456497"/>
            <a:ext cx="8684862" cy="1219306"/>
          </a:xfrm>
          <a:prstGeom prst="rect">
            <a:avLst/>
          </a:prstGeom>
        </p:spPr>
      </p:pic>
      <p:pic>
        <p:nvPicPr>
          <p:cNvPr id="9" name="Picture 8">
            <a:extLst>
              <a:ext uri="{FF2B5EF4-FFF2-40B4-BE49-F238E27FC236}">
                <a16:creationId xmlns:a16="http://schemas.microsoft.com/office/drawing/2014/main" id="{C62B0163-7EA3-613E-7A12-51BFCD3782EC}"/>
              </a:ext>
            </a:extLst>
          </p:cNvPr>
          <p:cNvPicPr>
            <a:picLocks noChangeAspect="1"/>
          </p:cNvPicPr>
          <p:nvPr/>
        </p:nvPicPr>
        <p:blipFill>
          <a:blip r:embed="rId5">
            <a:duotone>
              <a:prstClr val="black"/>
              <a:schemeClr val="accent4">
                <a:tint val="45000"/>
                <a:satMod val="400000"/>
              </a:schemeClr>
            </a:duotone>
          </a:blip>
          <a:stretch>
            <a:fillRect/>
          </a:stretch>
        </p:blipFill>
        <p:spPr>
          <a:xfrm>
            <a:off x="199365" y="2440177"/>
            <a:ext cx="8684862" cy="3650296"/>
          </a:xfrm>
          <a:prstGeom prst="rect">
            <a:avLst/>
          </a:prstGeom>
        </p:spPr>
      </p:pic>
    </p:spTree>
    <p:extLst>
      <p:ext uri="{BB962C8B-B14F-4D97-AF65-F5344CB8AC3E}">
        <p14:creationId xmlns:p14="http://schemas.microsoft.com/office/powerpoint/2010/main" val="3499440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15B3FE-EA11-FD92-8480-5E01F0FDCC6E}"/>
              </a:ext>
            </a:extLst>
          </p:cNvPr>
          <p:cNvPicPr>
            <a:picLocks noChangeAspect="1"/>
          </p:cNvPicPr>
          <p:nvPr/>
        </p:nvPicPr>
        <p:blipFill>
          <a:blip r:embed="rId2">
            <a:duotone>
              <a:prstClr val="black"/>
              <a:schemeClr val="accent6">
                <a:tint val="45000"/>
                <a:satMod val="400000"/>
              </a:schemeClr>
            </a:duotone>
          </a:blip>
          <a:stretch>
            <a:fillRect/>
          </a:stretch>
        </p:blipFill>
        <p:spPr>
          <a:xfrm>
            <a:off x="165762" y="280533"/>
            <a:ext cx="5601193" cy="509175"/>
          </a:xfrm>
          <a:prstGeom prst="rect">
            <a:avLst/>
          </a:prstGeom>
        </p:spPr>
      </p:pic>
      <p:pic>
        <p:nvPicPr>
          <p:cNvPr id="5" name="Picture 4">
            <a:extLst>
              <a:ext uri="{FF2B5EF4-FFF2-40B4-BE49-F238E27FC236}">
                <a16:creationId xmlns:a16="http://schemas.microsoft.com/office/drawing/2014/main" id="{AF5E93BC-9BF7-D11F-C153-DEA02B03A41E}"/>
              </a:ext>
            </a:extLst>
          </p:cNvPr>
          <p:cNvPicPr>
            <a:picLocks noChangeAspect="1"/>
          </p:cNvPicPr>
          <p:nvPr/>
        </p:nvPicPr>
        <p:blipFill>
          <a:blip r:embed="rId3">
            <a:duotone>
              <a:prstClr val="black"/>
              <a:schemeClr val="accent6">
                <a:tint val="45000"/>
                <a:satMod val="400000"/>
              </a:schemeClr>
            </a:duotone>
          </a:blip>
          <a:stretch>
            <a:fillRect/>
          </a:stretch>
        </p:blipFill>
        <p:spPr>
          <a:xfrm>
            <a:off x="165762" y="789708"/>
            <a:ext cx="4042556" cy="480102"/>
          </a:xfrm>
          <a:prstGeom prst="rect">
            <a:avLst/>
          </a:prstGeom>
        </p:spPr>
      </p:pic>
      <p:pic>
        <p:nvPicPr>
          <p:cNvPr id="7" name="Picture 6">
            <a:extLst>
              <a:ext uri="{FF2B5EF4-FFF2-40B4-BE49-F238E27FC236}">
                <a16:creationId xmlns:a16="http://schemas.microsoft.com/office/drawing/2014/main" id="{EB88D953-D4BA-6E7A-F6FF-5A54F126C387}"/>
              </a:ext>
            </a:extLst>
          </p:cNvPr>
          <p:cNvPicPr>
            <a:picLocks noChangeAspect="1"/>
          </p:cNvPicPr>
          <p:nvPr/>
        </p:nvPicPr>
        <p:blipFill>
          <a:blip r:embed="rId4"/>
          <a:stretch>
            <a:fillRect/>
          </a:stretch>
        </p:blipFill>
        <p:spPr>
          <a:xfrm>
            <a:off x="165762" y="1387322"/>
            <a:ext cx="3221674" cy="5190145"/>
          </a:xfrm>
          <a:prstGeom prst="rect">
            <a:avLst/>
          </a:prstGeom>
        </p:spPr>
      </p:pic>
    </p:spTree>
    <p:extLst>
      <p:ext uri="{BB962C8B-B14F-4D97-AF65-F5344CB8AC3E}">
        <p14:creationId xmlns:p14="http://schemas.microsoft.com/office/powerpoint/2010/main" val="3397926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9B16F4-4A7C-0571-89D5-DA9BAD8BCC7B}"/>
              </a:ext>
            </a:extLst>
          </p:cNvPr>
          <p:cNvPicPr>
            <a:picLocks noChangeAspect="1"/>
          </p:cNvPicPr>
          <p:nvPr/>
        </p:nvPicPr>
        <p:blipFill>
          <a:blip r:embed="rId2">
            <a:duotone>
              <a:prstClr val="black"/>
              <a:schemeClr val="accent4">
                <a:tint val="45000"/>
                <a:satMod val="400000"/>
              </a:schemeClr>
            </a:duotone>
          </a:blip>
          <a:stretch>
            <a:fillRect/>
          </a:stretch>
        </p:blipFill>
        <p:spPr>
          <a:xfrm>
            <a:off x="218667" y="99379"/>
            <a:ext cx="8821423" cy="659157"/>
          </a:xfrm>
          <a:prstGeom prst="rect">
            <a:avLst/>
          </a:prstGeom>
        </p:spPr>
      </p:pic>
      <p:pic>
        <p:nvPicPr>
          <p:cNvPr id="5" name="Picture 4">
            <a:extLst>
              <a:ext uri="{FF2B5EF4-FFF2-40B4-BE49-F238E27FC236}">
                <a16:creationId xmlns:a16="http://schemas.microsoft.com/office/drawing/2014/main" id="{0CF3E761-A1C8-185D-4A77-311D61B2362F}"/>
              </a:ext>
            </a:extLst>
          </p:cNvPr>
          <p:cNvPicPr>
            <a:picLocks noChangeAspect="1"/>
          </p:cNvPicPr>
          <p:nvPr/>
        </p:nvPicPr>
        <p:blipFill>
          <a:blip r:embed="rId3">
            <a:duotone>
              <a:prstClr val="black"/>
              <a:schemeClr val="accent6">
                <a:tint val="45000"/>
                <a:satMod val="400000"/>
              </a:schemeClr>
            </a:duotone>
          </a:blip>
          <a:stretch>
            <a:fillRect/>
          </a:stretch>
        </p:blipFill>
        <p:spPr>
          <a:xfrm>
            <a:off x="218667" y="758535"/>
            <a:ext cx="6857542" cy="3002973"/>
          </a:xfrm>
          <a:prstGeom prst="rect">
            <a:avLst/>
          </a:prstGeom>
        </p:spPr>
      </p:pic>
      <p:pic>
        <p:nvPicPr>
          <p:cNvPr id="7" name="Picture 6">
            <a:extLst>
              <a:ext uri="{FF2B5EF4-FFF2-40B4-BE49-F238E27FC236}">
                <a16:creationId xmlns:a16="http://schemas.microsoft.com/office/drawing/2014/main" id="{6D0CE947-3CBD-48C4-084E-4C63881B0E7C}"/>
              </a:ext>
            </a:extLst>
          </p:cNvPr>
          <p:cNvPicPr>
            <a:picLocks noChangeAspect="1"/>
          </p:cNvPicPr>
          <p:nvPr/>
        </p:nvPicPr>
        <p:blipFill>
          <a:blip r:embed="rId4">
            <a:duotone>
              <a:prstClr val="black"/>
              <a:schemeClr val="accent5">
                <a:tint val="45000"/>
                <a:satMod val="400000"/>
              </a:schemeClr>
            </a:duotone>
          </a:blip>
          <a:stretch>
            <a:fillRect/>
          </a:stretch>
        </p:blipFill>
        <p:spPr>
          <a:xfrm>
            <a:off x="218666" y="3798026"/>
            <a:ext cx="6857542" cy="2613165"/>
          </a:xfrm>
          <a:prstGeom prst="rect">
            <a:avLst/>
          </a:prstGeom>
        </p:spPr>
      </p:pic>
    </p:spTree>
    <p:extLst>
      <p:ext uri="{BB962C8B-B14F-4D97-AF65-F5344CB8AC3E}">
        <p14:creationId xmlns:p14="http://schemas.microsoft.com/office/powerpoint/2010/main" val="3861068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4F6DCA-167E-E6B1-F829-13A623196173}"/>
              </a:ext>
            </a:extLst>
          </p:cNvPr>
          <p:cNvSpPr txBox="1"/>
          <p:nvPr/>
        </p:nvSpPr>
        <p:spPr>
          <a:xfrm>
            <a:off x="168851" y="147843"/>
            <a:ext cx="11385839" cy="646331"/>
          </a:xfrm>
          <a:prstGeom prst="rect">
            <a:avLst/>
          </a:prstGeom>
          <a:solidFill>
            <a:schemeClr val="accent5">
              <a:lumMod val="75000"/>
            </a:schemeClr>
          </a:solidFill>
        </p:spPr>
        <p:txBody>
          <a:bodyPr wrap="square">
            <a:spAutoFit/>
          </a:bodyPr>
          <a:lstStyle/>
          <a:p>
            <a:r>
              <a:rPr lang="en-IN" sz="3600"/>
              <a:t>6. Data Visualization</a:t>
            </a:r>
          </a:p>
        </p:txBody>
      </p:sp>
      <p:pic>
        <p:nvPicPr>
          <p:cNvPr id="7" name="Picture 6">
            <a:extLst>
              <a:ext uri="{FF2B5EF4-FFF2-40B4-BE49-F238E27FC236}">
                <a16:creationId xmlns:a16="http://schemas.microsoft.com/office/drawing/2014/main" id="{66965A9D-D756-C815-BB1D-6ABD8217DCC5}"/>
              </a:ext>
            </a:extLst>
          </p:cNvPr>
          <p:cNvPicPr>
            <a:picLocks noChangeAspect="1"/>
          </p:cNvPicPr>
          <p:nvPr/>
        </p:nvPicPr>
        <p:blipFill>
          <a:blip r:embed="rId2">
            <a:duotone>
              <a:prstClr val="black"/>
              <a:schemeClr val="accent6">
                <a:tint val="45000"/>
                <a:satMod val="400000"/>
              </a:schemeClr>
            </a:duotone>
          </a:blip>
          <a:stretch>
            <a:fillRect/>
          </a:stretch>
        </p:blipFill>
        <p:spPr>
          <a:xfrm>
            <a:off x="168851" y="798980"/>
            <a:ext cx="5670840" cy="4214244"/>
          </a:xfrm>
          <a:prstGeom prst="rect">
            <a:avLst/>
          </a:prstGeom>
        </p:spPr>
      </p:pic>
      <p:pic>
        <p:nvPicPr>
          <p:cNvPr id="9" name="Picture 8">
            <a:extLst>
              <a:ext uri="{FF2B5EF4-FFF2-40B4-BE49-F238E27FC236}">
                <a16:creationId xmlns:a16="http://schemas.microsoft.com/office/drawing/2014/main" id="{80BC5FEB-B202-C5C7-C8C2-9546452CE517}"/>
              </a:ext>
            </a:extLst>
          </p:cNvPr>
          <p:cNvPicPr>
            <a:picLocks noChangeAspect="1"/>
          </p:cNvPicPr>
          <p:nvPr/>
        </p:nvPicPr>
        <p:blipFill>
          <a:blip r:embed="rId3"/>
          <a:stretch>
            <a:fillRect/>
          </a:stretch>
        </p:blipFill>
        <p:spPr>
          <a:xfrm>
            <a:off x="5861770" y="907695"/>
            <a:ext cx="6330230" cy="3996814"/>
          </a:xfrm>
          <a:prstGeom prst="rect">
            <a:avLst/>
          </a:prstGeom>
        </p:spPr>
      </p:pic>
      <p:sp>
        <p:nvSpPr>
          <p:cNvPr id="11" name="TextBox 10">
            <a:extLst>
              <a:ext uri="{FF2B5EF4-FFF2-40B4-BE49-F238E27FC236}">
                <a16:creationId xmlns:a16="http://schemas.microsoft.com/office/drawing/2014/main" id="{92233603-D185-8ED3-273D-B633CA55CD8D}"/>
              </a:ext>
            </a:extLst>
          </p:cNvPr>
          <p:cNvSpPr txBox="1"/>
          <p:nvPr/>
        </p:nvSpPr>
        <p:spPr>
          <a:xfrm>
            <a:off x="168851" y="5412689"/>
            <a:ext cx="11385838" cy="646331"/>
          </a:xfrm>
          <a:prstGeom prst="rect">
            <a:avLst/>
          </a:prstGeom>
          <a:noFill/>
        </p:spPr>
        <p:txBody>
          <a:bodyPr wrap="square">
            <a:spAutoFit/>
          </a:bodyPr>
          <a:lstStyle/>
          <a:p>
            <a:r>
              <a:rPr lang="en-US"/>
              <a:t>26.6 % of customers switched to another firm.</a:t>
            </a:r>
          </a:p>
          <a:p>
            <a:r>
              <a:rPr lang="en-US"/>
              <a:t>Customers are 49.5 % female and 50.5 % male.</a:t>
            </a:r>
            <a:endParaRPr lang="en-IN"/>
          </a:p>
        </p:txBody>
      </p:sp>
    </p:spTree>
    <p:extLst>
      <p:ext uri="{BB962C8B-B14F-4D97-AF65-F5344CB8AC3E}">
        <p14:creationId xmlns:p14="http://schemas.microsoft.com/office/powerpoint/2010/main" val="2578797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D85AF7-2EBD-CBA7-78CF-8BD324717542}"/>
              </a:ext>
            </a:extLst>
          </p:cNvPr>
          <p:cNvPicPr>
            <a:picLocks noChangeAspect="1"/>
          </p:cNvPicPr>
          <p:nvPr/>
        </p:nvPicPr>
        <p:blipFill>
          <a:blip r:embed="rId2">
            <a:duotone>
              <a:prstClr val="black"/>
              <a:schemeClr val="accent6">
                <a:tint val="45000"/>
                <a:satMod val="400000"/>
              </a:schemeClr>
            </a:duotone>
          </a:blip>
          <a:stretch>
            <a:fillRect/>
          </a:stretch>
        </p:blipFill>
        <p:spPr>
          <a:xfrm>
            <a:off x="170784" y="162245"/>
            <a:ext cx="6739171" cy="4773437"/>
          </a:xfrm>
          <a:prstGeom prst="rect">
            <a:avLst/>
          </a:prstGeom>
        </p:spPr>
      </p:pic>
      <p:pic>
        <p:nvPicPr>
          <p:cNvPr id="5" name="Picture 4">
            <a:extLst>
              <a:ext uri="{FF2B5EF4-FFF2-40B4-BE49-F238E27FC236}">
                <a16:creationId xmlns:a16="http://schemas.microsoft.com/office/drawing/2014/main" id="{32F15EF9-80D3-3756-A4E8-10ABFF26B412}"/>
              </a:ext>
            </a:extLst>
          </p:cNvPr>
          <p:cNvPicPr>
            <a:picLocks noChangeAspect="1"/>
          </p:cNvPicPr>
          <p:nvPr/>
        </p:nvPicPr>
        <p:blipFill>
          <a:blip r:embed="rId3">
            <a:duotone>
              <a:prstClr val="black"/>
              <a:schemeClr val="accent6">
                <a:tint val="45000"/>
                <a:satMod val="400000"/>
              </a:schemeClr>
            </a:duotone>
          </a:blip>
          <a:stretch>
            <a:fillRect/>
          </a:stretch>
        </p:blipFill>
        <p:spPr>
          <a:xfrm>
            <a:off x="227399" y="4935682"/>
            <a:ext cx="6666435" cy="1653683"/>
          </a:xfrm>
          <a:prstGeom prst="rect">
            <a:avLst/>
          </a:prstGeom>
        </p:spPr>
      </p:pic>
      <p:pic>
        <p:nvPicPr>
          <p:cNvPr id="7" name="Picture 6">
            <a:extLst>
              <a:ext uri="{FF2B5EF4-FFF2-40B4-BE49-F238E27FC236}">
                <a16:creationId xmlns:a16="http://schemas.microsoft.com/office/drawing/2014/main" id="{44D57661-72E3-49E7-7003-BE03A8019F88}"/>
              </a:ext>
            </a:extLst>
          </p:cNvPr>
          <p:cNvPicPr>
            <a:picLocks noChangeAspect="1"/>
          </p:cNvPicPr>
          <p:nvPr/>
        </p:nvPicPr>
        <p:blipFill>
          <a:blip r:embed="rId4"/>
          <a:stretch>
            <a:fillRect/>
          </a:stretch>
        </p:blipFill>
        <p:spPr>
          <a:xfrm>
            <a:off x="6893835" y="162245"/>
            <a:ext cx="5298166" cy="4793395"/>
          </a:xfrm>
          <a:prstGeom prst="rect">
            <a:avLst/>
          </a:prstGeom>
        </p:spPr>
      </p:pic>
      <p:sp>
        <p:nvSpPr>
          <p:cNvPr id="11" name="TextBox 10">
            <a:extLst>
              <a:ext uri="{FF2B5EF4-FFF2-40B4-BE49-F238E27FC236}">
                <a16:creationId xmlns:a16="http://schemas.microsoft.com/office/drawing/2014/main" id="{DABDF334-4287-774E-9E9A-6D11B1AC12B1}"/>
              </a:ext>
            </a:extLst>
          </p:cNvPr>
          <p:cNvSpPr txBox="1"/>
          <p:nvPr/>
        </p:nvSpPr>
        <p:spPr>
          <a:xfrm>
            <a:off x="7037040" y="5389036"/>
            <a:ext cx="5154960" cy="1200329"/>
          </a:xfrm>
          <a:prstGeom prst="rect">
            <a:avLst/>
          </a:prstGeom>
          <a:solidFill>
            <a:schemeClr val="tx1">
              <a:lumMod val="50000"/>
              <a:lumOff val="50000"/>
            </a:schemeClr>
          </a:solidFill>
        </p:spPr>
        <p:txBody>
          <a:bodyPr wrap="square">
            <a:spAutoFit/>
          </a:bodyPr>
          <a:lstStyle/>
          <a:p>
            <a:r>
              <a:rPr lang="en-US"/>
              <a:t>There is negligible difference in customer percentage/ count who chnaged the service provider. Both genders behaved in similar fashion when it comes to migrating to another service provider/firm.</a:t>
            </a:r>
            <a:endParaRPr lang="en-IN"/>
          </a:p>
        </p:txBody>
      </p:sp>
    </p:spTree>
    <p:extLst>
      <p:ext uri="{BB962C8B-B14F-4D97-AF65-F5344CB8AC3E}">
        <p14:creationId xmlns:p14="http://schemas.microsoft.com/office/powerpoint/2010/main" val="877305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19EED5-4AC4-2D73-504C-490CC246DA6C}"/>
              </a:ext>
            </a:extLst>
          </p:cNvPr>
          <p:cNvPicPr>
            <a:picLocks noChangeAspect="1"/>
          </p:cNvPicPr>
          <p:nvPr/>
        </p:nvPicPr>
        <p:blipFill>
          <a:blip r:embed="rId2">
            <a:duotone>
              <a:prstClr val="black"/>
              <a:schemeClr val="accent4">
                <a:tint val="45000"/>
                <a:satMod val="400000"/>
              </a:schemeClr>
            </a:duotone>
          </a:blip>
          <a:stretch>
            <a:fillRect/>
          </a:stretch>
        </p:blipFill>
        <p:spPr>
          <a:xfrm>
            <a:off x="158663" y="192878"/>
            <a:ext cx="9276282" cy="1089754"/>
          </a:xfrm>
          <a:prstGeom prst="rect">
            <a:avLst/>
          </a:prstGeom>
        </p:spPr>
      </p:pic>
      <p:pic>
        <p:nvPicPr>
          <p:cNvPr id="5" name="Picture 4">
            <a:extLst>
              <a:ext uri="{FF2B5EF4-FFF2-40B4-BE49-F238E27FC236}">
                <a16:creationId xmlns:a16="http://schemas.microsoft.com/office/drawing/2014/main" id="{0AB03192-6023-373B-B9EA-C2445E8E537C}"/>
              </a:ext>
            </a:extLst>
          </p:cNvPr>
          <p:cNvPicPr>
            <a:picLocks noChangeAspect="1"/>
          </p:cNvPicPr>
          <p:nvPr/>
        </p:nvPicPr>
        <p:blipFill>
          <a:blip r:embed="rId3"/>
          <a:stretch>
            <a:fillRect/>
          </a:stretch>
        </p:blipFill>
        <p:spPr>
          <a:xfrm>
            <a:off x="158662" y="1469440"/>
            <a:ext cx="7707255" cy="4168501"/>
          </a:xfrm>
          <a:prstGeom prst="rect">
            <a:avLst/>
          </a:prstGeom>
        </p:spPr>
      </p:pic>
      <p:sp>
        <p:nvSpPr>
          <p:cNvPr id="7" name="TextBox 6">
            <a:extLst>
              <a:ext uri="{FF2B5EF4-FFF2-40B4-BE49-F238E27FC236}">
                <a16:creationId xmlns:a16="http://schemas.microsoft.com/office/drawing/2014/main" id="{60B20597-D910-5F7D-2605-A67D9EB2CFE7}"/>
              </a:ext>
            </a:extLst>
          </p:cNvPr>
          <p:cNvSpPr txBox="1"/>
          <p:nvPr/>
        </p:nvSpPr>
        <p:spPr>
          <a:xfrm>
            <a:off x="158662" y="5471544"/>
            <a:ext cx="10928438" cy="646331"/>
          </a:xfrm>
          <a:prstGeom prst="rect">
            <a:avLst/>
          </a:prstGeom>
          <a:solidFill>
            <a:schemeClr val="tx1">
              <a:lumMod val="50000"/>
              <a:lumOff val="50000"/>
            </a:schemeClr>
          </a:solidFill>
        </p:spPr>
        <p:txBody>
          <a:bodyPr wrap="square">
            <a:spAutoFit/>
          </a:bodyPr>
          <a:lstStyle/>
          <a:p>
            <a:r>
              <a:rPr lang="en-US"/>
              <a:t>About 75% of customer with Month-to-Month Contract opted to move out as compared to 13% of customrs with One Year Contract and 3% with Two Year Contract</a:t>
            </a:r>
            <a:endParaRPr lang="en-IN"/>
          </a:p>
        </p:txBody>
      </p:sp>
    </p:spTree>
    <p:extLst>
      <p:ext uri="{BB962C8B-B14F-4D97-AF65-F5344CB8AC3E}">
        <p14:creationId xmlns:p14="http://schemas.microsoft.com/office/powerpoint/2010/main" val="2338918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AD06D0-7058-B3F0-505D-3299000811DA}"/>
              </a:ext>
            </a:extLst>
          </p:cNvPr>
          <p:cNvPicPr>
            <a:picLocks noChangeAspect="1"/>
          </p:cNvPicPr>
          <p:nvPr/>
        </p:nvPicPr>
        <p:blipFill>
          <a:blip r:embed="rId2">
            <a:duotone>
              <a:prstClr val="black"/>
              <a:schemeClr val="accent4">
                <a:tint val="45000"/>
                <a:satMod val="400000"/>
              </a:schemeClr>
            </a:duotone>
          </a:blip>
          <a:stretch>
            <a:fillRect/>
          </a:stretch>
        </p:blipFill>
        <p:spPr>
          <a:xfrm>
            <a:off x="88076" y="152684"/>
            <a:ext cx="7331033" cy="1281261"/>
          </a:xfrm>
          <a:prstGeom prst="rect">
            <a:avLst/>
          </a:prstGeom>
        </p:spPr>
      </p:pic>
      <p:pic>
        <p:nvPicPr>
          <p:cNvPr id="5" name="Picture 4">
            <a:extLst>
              <a:ext uri="{FF2B5EF4-FFF2-40B4-BE49-F238E27FC236}">
                <a16:creationId xmlns:a16="http://schemas.microsoft.com/office/drawing/2014/main" id="{27CEE188-84E2-DBE3-B2DF-B801856DA585}"/>
              </a:ext>
            </a:extLst>
          </p:cNvPr>
          <p:cNvPicPr>
            <a:picLocks noChangeAspect="1"/>
          </p:cNvPicPr>
          <p:nvPr/>
        </p:nvPicPr>
        <p:blipFill>
          <a:blip r:embed="rId3"/>
          <a:stretch>
            <a:fillRect/>
          </a:stretch>
        </p:blipFill>
        <p:spPr>
          <a:xfrm>
            <a:off x="88076" y="1939800"/>
            <a:ext cx="7331033" cy="4183743"/>
          </a:xfrm>
          <a:prstGeom prst="rect">
            <a:avLst/>
          </a:prstGeom>
        </p:spPr>
      </p:pic>
    </p:spTree>
    <p:extLst>
      <p:ext uri="{BB962C8B-B14F-4D97-AF65-F5344CB8AC3E}">
        <p14:creationId xmlns:p14="http://schemas.microsoft.com/office/powerpoint/2010/main" val="2368127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93E4CC-734B-F5E1-4A7E-79EE6DCC957B}"/>
              </a:ext>
            </a:extLst>
          </p:cNvPr>
          <p:cNvPicPr>
            <a:picLocks noChangeAspect="1"/>
          </p:cNvPicPr>
          <p:nvPr/>
        </p:nvPicPr>
        <p:blipFill>
          <a:blip r:embed="rId2">
            <a:duotone>
              <a:prstClr val="black"/>
              <a:schemeClr val="accent4">
                <a:tint val="45000"/>
                <a:satMod val="400000"/>
              </a:schemeClr>
            </a:duotone>
          </a:blip>
          <a:stretch>
            <a:fillRect/>
          </a:stretch>
        </p:blipFill>
        <p:spPr>
          <a:xfrm>
            <a:off x="131301" y="228901"/>
            <a:ext cx="8181426" cy="1059272"/>
          </a:xfrm>
          <a:prstGeom prst="rect">
            <a:avLst/>
          </a:prstGeom>
        </p:spPr>
      </p:pic>
      <p:pic>
        <p:nvPicPr>
          <p:cNvPr id="5" name="Picture 4">
            <a:extLst>
              <a:ext uri="{FF2B5EF4-FFF2-40B4-BE49-F238E27FC236}">
                <a16:creationId xmlns:a16="http://schemas.microsoft.com/office/drawing/2014/main" id="{6E140687-FD38-EFD3-5CA8-AC8935D2A38A}"/>
              </a:ext>
            </a:extLst>
          </p:cNvPr>
          <p:cNvPicPr>
            <a:picLocks noChangeAspect="1"/>
          </p:cNvPicPr>
          <p:nvPr/>
        </p:nvPicPr>
        <p:blipFill>
          <a:blip r:embed="rId3"/>
          <a:stretch>
            <a:fillRect/>
          </a:stretch>
        </p:blipFill>
        <p:spPr>
          <a:xfrm>
            <a:off x="131301" y="1375572"/>
            <a:ext cx="7599535" cy="4252328"/>
          </a:xfrm>
          <a:prstGeom prst="rect">
            <a:avLst/>
          </a:prstGeom>
        </p:spPr>
      </p:pic>
      <p:sp>
        <p:nvSpPr>
          <p:cNvPr id="7" name="TextBox 6">
            <a:extLst>
              <a:ext uri="{FF2B5EF4-FFF2-40B4-BE49-F238E27FC236}">
                <a16:creationId xmlns:a16="http://schemas.microsoft.com/office/drawing/2014/main" id="{3966B7F1-E8CE-B218-0C0F-70DBF30790E5}"/>
              </a:ext>
            </a:extLst>
          </p:cNvPr>
          <p:cNvSpPr txBox="1"/>
          <p:nvPr/>
        </p:nvSpPr>
        <p:spPr>
          <a:xfrm>
            <a:off x="131301" y="5715299"/>
            <a:ext cx="8503544" cy="923330"/>
          </a:xfrm>
          <a:prstGeom prst="rect">
            <a:avLst/>
          </a:prstGeom>
          <a:solidFill>
            <a:schemeClr val="tx1">
              <a:lumMod val="50000"/>
              <a:lumOff val="50000"/>
            </a:schemeClr>
          </a:solidFill>
        </p:spPr>
        <p:txBody>
          <a:bodyPr wrap="square">
            <a:spAutoFit/>
          </a:bodyPr>
          <a:lstStyle/>
          <a:p>
            <a:r>
              <a:rPr lang="en-US"/>
              <a:t>Major customers who moved out were having Electronic Check as Payment Method.</a:t>
            </a:r>
          </a:p>
          <a:p>
            <a:r>
              <a:rPr lang="en-US"/>
              <a:t>Customers who opted for Credit-Card automatic transfer or Bank Automatic Transfer and Mailed Check as Payment Method were less likely to move out.</a:t>
            </a:r>
            <a:endParaRPr lang="en-IN"/>
          </a:p>
        </p:txBody>
      </p:sp>
    </p:spTree>
    <p:extLst>
      <p:ext uri="{BB962C8B-B14F-4D97-AF65-F5344CB8AC3E}">
        <p14:creationId xmlns:p14="http://schemas.microsoft.com/office/powerpoint/2010/main" val="2587771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61FEB1-2BD8-7ABD-1151-B8FB9E1110E1}"/>
              </a:ext>
            </a:extLst>
          </p:cNvPr>
          <p:cNvPicPr>
            <a:picLocks noChangeAspect="1"/>
          </p:cNvPicPr>
          <p:nvPr/>
        </p:nvPicPr>
        <p:blipFill>
          <a:blip r:embed="rId2">
            <a:duotone>
              <a:prstClr val="black"/>
              <a:schemeClr val="accent4">
                <a:tint val="45000"/>
                <a:satMod val="400000"/>
              </a:schemeClr>
            </a:duotone>
          </a:blip>
          <a:stretch>
            <a:fillRect/>
          </a:stretch>
        </p:blipFill>
        <p:spPr>
          <a:xfrm>
            <a:off x="139331" y="203988"/>
            <a:ext cx="8963105" cy="464860"/>
          </a:xfrm>
          <a:prstGeom prst="rect">
            <a:avLst/>
          </a:prstGeom>
        </p:spPr>
      </p:pic>
      <p:pic>
        <p:nvPicPr>
          <p:cNvPr id="5" name="Picture 4">
            <a:extLst>
              <a:ext uri="{FF2B5EF4-FFF2-40B4-BE49-F238E27FC236}">
                <a16:creationId xmlns:a16="http://schemas.microsoft.com/office/drawing/2014/main" id="{323BFB11-C249-3F9D-318A-ADC91484380A}"/>
              </a:ext>
            </a:extLst>
          </p:cNvPr>
          <p:cNvPicPr>
            <a:picLocks noChangeAspect="1"/>
          </p:cNvPicPr>
          <p:nvPr/>
        </p:nvPicPr>
        <p:blipFill>
          <a:blip r:embed="rId3">
            <a:duotone>
              <a:prstClr val="black"/>
              <a:schemeClr val="accent4">
                <a:tint val="45000"/>
                <a:satMod val="400000"/>
              </a:schemeClr>
            </a:duotone>
          </a:blip>
          <a:stretch>
            <a:fillRect/>
          </a:stretch>
        </p:blipFill>
        <p:spPr>
          <a:xfrm>
            <a:off x="274412" y="668848"/>
            <a:ext cx="8692942" cy="472481"/>
          </a:xfrm>
          <a:prstGeom prst="rect">
            <a:avLst/>
          </a:prstGeom>
        </p:spPr>
      </p:pic>
      <p:pic>
        <p:nvPicPr>
          <p:cNvPr id="7" name="Picture 6">
            <a:extLst>
              <a:ext uri="{FF2B5EF4-FFF2-40B4-BE49-F238E27FC236}">
                <a16:creationId xmlns:a16="http://schemas.microsoft.com/office/drawing/2014/main" id="{B0C6DDE2-C894-99BD-D2E4-4ABD1EB54D50}"/>
              </a:ext>
            </a:extLst>
          </p:cNvPr>
          <p:cNvPicPr>
            <a:picLocks noChangeAspect="1"/>
          </p:cNvPicPr>
          <p:nvPr/>
        </p:nvPicPr>
        <p:blipFill>
          <a:blip r:embed="rId4">
            <a:duotone>
              <a:prstClr val="black"/>
              <a:schemeClr val="accent6">
                <a:tint val="45000"/>
                <a:satMod val="400000"/>
              </a:schemeClr>
            </a:duotone>
          </a:blip>
          <a:stretch>
            <a:fillRect/>
          </a:stretch>
        </p:blipFill>
        <p:spPr>
          <a:xfrm>
            <a:off x="139330" y="1133708"/>
            <a:ext cx="4839119" cy="3306502"/>
          </a:xfrm>
          <a:prstGeom prst="rect">
            <a:avLst/>
          </a:prstGeom>
        </p:spPr>
      </p:pic>
      <p:pic>
        <p:nvPicPr>
          <p:cNvPr id="9" name="Picture 8">
            <a:extLst>
              <a:ext uri="{FF2B5EF4-FFF2-40B4-BE49-F238E27FC236}">
                <a16:creationId xmlns:a16="http://schemas.microsoft.com/office/drawing/2014/main" id="{1C77B5B5-DDFD-D79E-1A95-D00EF69C1D80}"/>
              </a:ext>
            </a:extLst>
          </p:cNvPr>
          <p:cNvPicPr>
            <a:picLocks noChangeAspect="1"/>
          </p:cNvPicPr>
          <p:nvPr/>
        </p:nvPicPr>
        <p:blipFill>
          <a:blip r:embed="rId5">
            <a:duotone>
              <a:prstClr val="black"/>
              <a:schemeClr val="accent6">
                <a:tint val="45000"/>
                <a:satMod val="400000"/>
              </a:schemeClr>
            </a:duotone>
          </a:blip>
          <a:stretch>
            <a:fillRect/>
          </a:stretch>
        </p:blipFill>
        <p:spPr>
          <a:xfrm>
            <a:off x="139330" y="4528227"/>
            <a:ext cx="7292972" cy="2215473"/>
          </a:xfrm>
          <a:prstGeom prst="rect">
            <a:avLst/>
          </a:prstGeom>
        </p:spPr>
      </p:pic>
      <p:pic>
        <p:nvPicPr>
          <p:cNvPr id="11" name="Picture 10">
            <a:extLst>
              <a:ext uri="{FF2B5EF4-FFF2-40B4-BE49-F238E27FC236}">
                <a16:creationId xmlns:a16="http://schemas.microsoft.com/office/drawing/2014/main" id="{784BCF8A-92E3-09DB-A9C9-B037F495ADAF}"/>
              </a:ext>
            </a:extLst>
          </p:cNvPr>
          <p:cNvPicPr>
            <a:picLocks noChangeAspect="1"/>
          </p:cNvPicPr>
          <p:nvPr/>
        </p:nvPicPr>
        <p:blipFill>
          <a:blip r:embed="rId6"/>
          <a:stretch>
            <a:fillRect/>
          </a:stretch>
        </p:blipFill>
        <p:spPr>
          <a:xfrm>
            <a:off x="5113530" y="1124961"/>
            <a:ext cx="6820491" cy="4442845"/>
          </a:xfrm>
          <a:prstGeom prst="rect">
            <a:avLst/>
          </a:prstGeom>
        </p:spPr>
      </p:pic>
      <p:sp>
        <p:nvSpPr>
          <p:cNvPr id="13" name="TextBox 12">
            <a:extLst>
              <a:ext uri="{FF2B5EF4-FFF2-40B4-BE49-F238E27FC236}">
                <a16:creationId xmlns:a16="http://schemas.microsoft.com/office/drawing/2014/main" id="{364CEB4C-42EA-9048-E74F-35D6CE78E165}"/>
              </a:ext>
            </a:extLst>
          </p:cNvPr>
          <p:cNvSpPr txBox="1"/>
          <p:nvPr/>
        </p:nvSpPr>
        <p:spPr>
          <a:xfrm>
            <a:off x="7510131" y="5559152"/>
            <a:ext cx="4542539" cy="1296000"/>
          </a:xfrm>
          <a:prstGeom prst="rect">
            <a:avLst/>
          </a:prstGeom>
          <a:solidFill>
            <a:schemeClr val="tx1">
              <a:lumMod val="50000"/>
              <a:lumOff val="50000"/>
            </a:schemeClr>
          </a:solidFill>
        </p:spPr>
        <p:txBody>
          <a:bodyPr wrap="square">
            <a:spAutoFit/>
          </a:bodyPr>
          <a:lstStyle/>
          <a:p>
            <a:r>
              <a:rPr lang="en-US" sz="1400"/>
              <a:t>A lot of customers choose the Fiber optic service and it's also evident that the customers who use Fiber optic have high churn rate, this might suggest a dissatisfaction with this type of internet service.</a:t>
            </a:r>
          </a:p>
          <a:p>
            <a:r>
              <a:rPr lang="en-US" sz="1400"/>
              <a:t>Customers having DSL service are majority in number and have less churn rate compared to Fibre optic service</a:t>
            </a:r>
            <a:r>
              <a:rPr lang="en-US" sz="1200"/>
              <a:t>.</a:t>
            </a:r>
            <a:endParaRPr lang="en-IN" sz="1200"/>
          </a:p>
        </p:txBody>
      </p:sp>
    </p:spTree>
    <p:extLst>
      <p:ext uri="{BB962C8B-B14F-4D97-AF65-F5344CB8AC3E}">
        <p14:creationId xmlns:p14="http://schemas.microsoft.com/office/powerpoint/2010/main" val="767081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E0C9B8-625A-630A-B616-6978DEFFFE7C}"/>
              </a:ext>
            </a:extLst>
          </p:cNvPr>
          <p:cNvPicPr>
            <a:picLocks noChangeAspect="1"/>
          </p:cNvPicPr>
          <p:nvPr/>
        </p:nvPicPr>
        <p:blipFill>
          <a:blip r:embed="rId2">
            <a:duotone>
              <a:prstClr val="black"/>
              <a:schemeClr val="accent4">
                <a:tint val="45000"/>
                <a:satMod val="400000"/>
              </a:schemeClr>
            </a:duotone>
          </a:blip>
          <a:stretch>
            <a:fillRect/>
          </a:stretch>
        </p:blipFill>
        <p:spPr>
          <a:xfrm>
            <a:off x="169743" y="167584"/>
            <a:ext cx="8714483" cy="1265030"/>
          </a:xfrm>
          <a:prstGeom prst="rect">
            <a:avLst/>
          </a:prstGeom>
        </p:spPr>
      </p:pic>
      <p:pic>
        <p:nvPicPr>
          <p:cNvPr id="5" name="Picture 4">
            <a:extLst>
              <a:ext uri="{FF2B5EF4-FFF2-40B4-BE49-F238E27FC236}">
                <a16:creationId xmlns:a16="http://schemas.microsoft.com/office/drawing/2014/main" id="{8F24AA55-5321-DB09-D6CA-9B984B24A159}"/>
              </a:ext>
            </a:extLst>
          </p:cNvPr>
          <p:cNvPicPr>
            <a:picLocks noChangeAspect="1"/>
          </p:cNvPicPr>
          <p:nvPr/>
        </p:nvPicPr>
        <p:blipFill>
          <a:blip r:embed="rId3"/>
          <a:stretch>
            <a:fillRect/>
          </a:stretch>
        </p:blipFill>
        <p:spPr>
          <a:xfrm>
            <a:off x="169742" y="1595861"/>
            <a:ext cx="7467575" cy="4206605"/>
          </a:xfrm>
          <a:prstGeom prst="rect">
            <a:avLst/>
          </a:prstGeom>
        </p:spPr>
      </p:pic>
      <p:sp>
        <p:nvSpPr>
          <p:cNvPr id="7" name="TextBox 6">
            <a:extLst>
              <a:ext uri="{FF2B5EF4-FFF2-40B4-BE49-F238E27FC236}">
                <a16:creationId xmlns:a16="http://schemas.microsoft.com/office/drawing/2014/main" id="{9122B102-9197-49DE-9212-FF664130E2E4}"/>
              </a:ext>
            </a:extLst>
          </p:cNvPr>
          <p:cNvSpPr txBox="1"/>
          <p:nvPr/>
        </p:nvSpPr>
        <p:spPr>
          <a:xfrm>
            <a:off x="169742" y="5965713"/>
            <a:ext cx="8714483" cy="369332"/>
          </a:xfrm>
          <a:prstGeom prst="rect">
            <a:avLst/>
          </a:prstGeom>
          <a:solidFill>
            <a:schemeClr val="tx1">
              <a:lumMod val="50000"/>
              <a:lumOff val="50000"/>
            </a:schemeClr>
          </a:solidFill>
        </p:spPr>
        <p:txBody>
          <a:bodyPr wrap="square">
            <a:spAutoFit/>
          </a:bodyPr>
          <a:lstStyle/>
          <a:p>
            <a:r>
              <a:rPr lang="en-US"/>
              <a:t>Customers without dependents are more likely to churn</a:t>
            </a:r>
            <a:endParaRPr lang="en-IN"/>
          </a:p>
        </p:txBody>
      </p:sp>
    </p:spTree>
    <p:extLst>
      <p:ext uri="{BB962C8B-B14F-4D97-AF65-F5344CB8AC3E}">
        <p14:creationId xmlns:p14="http://schemas.microsoft.com/office/powerpoint/2010/main" val="394923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49CBE2-7B1B-4D46-FE53-BE7EA260BEB4}"/>
              </a:ext>
            </a:extLst>
          </p:cNvPr>
          <p:cNvPicPr>
            <a:picLocks noChangeAspect="1"/>
          </p:cNvPicPr>
          <p:nvPr/>
        </p:nvPicPr>
        <p:blipFill>
          <a:blip r:embed="rId2">
            <a:duotone>
              <a:prstClr val="black"/>
              <a:schemeClr val="accent4">
                <a:tint val="45000"/>
                <a:satMod val="400000"/>
              </a:schemeClr>
            </a:duotone>
          </a:blip>
          <a:stretch>
            <a:fillRect/>
          </a:stretch>
        </p:blipFill>
        <p:spPr>
          <a:xfrm>
            <a:off x="178405" y="212268"/>
            <a:ext cx="8155104" cy="1196444"/>
          </a:xfrm>
          <a:prstGeom prst="rect">
            <a:avLst/>
          </a:prstGeom>
        </p:spPr>
      </p:pic>
      <p:pic>
        <p:nvPicPr>
          <p:cNvPr id="5" name="Picture 4">
            <a:extLst>
              <a:ext uri="{FF2B5EF4-FFF2-40B4-BE49-F238E27FC236}">
                <a16:creationId xmlns:a16="http://schemas.microsoft.com/office/drawing/2014/main" id="{F9E7BE0C-F5A0-1D9C-7758-A152FC37AB2A}"/>
              </a:ext>
            </a:extLst>
          </p:cNvPr>
          <p:cNvPicPr>
            <a:picLocks noChangeAspect="1"/>
          </p:cNvPicPr>
          <p:nvPr/>
        </p:nvPicPr>
        <p:blipFill>
          <a:blip r:embed="rId3"/>
          <a:stretch>
            <a:fillRect/>
          </a:stretch>
        </p:blipFill>
        <p:spPr>
          <a:xfrm>
            <a:off x="178404" y="1510654"/>
            <a:ext cx="7209531" cy="4252328"/>
          </a:xfrm>
          <a:prstGeom prst="rect">
            <a:avLst/>
          </a:prstGeom>
        </p:spPr>
      </p:pic>
      <p:sp>
        <p:nvSpPr>
          <p:cNvPr id="7" name="TextBox 6">
            <a:extLst>
              <a:ext uri="{FF2B5EF4-FFF2-40B4-BE49-F238E27FC236}">
                <a16:creationId xmlns:a16="http://schemas.microsoft.com/office/drawing/2014/main" id="{BE144D82-BECF-57E6-AF27-42DBECA22F42}"/>
              </a:ext>
            </a:extLst>
          </p:cNvPr>
          <p:cNvSpPr txBox="1"/>
          <p:nvPr/>
        </p:nvSpPr>
        <p:spPr>
          <a:xfrm>
            <a:off x="178404" y="5762982"/>
            <a:ext cx="8155104" cy="369332"/>
          </a:xfrm>
          <a:prstGeom prst="rect">
            <a:avLst/>
          </a:prstGeom>
          <a:solidFill>
            <a:schemeClr val="tx1">
              <a:lumMod val="50000"/>
              <a:lumOff val="50000"/>
            </a:schemeClr>
          </a:solidFill>
        </p:spPr>
        <p:txBody>
          <a:bodyPr wrap="square">
            <a:spAutoFit/>
          </a:bodyPr>
          <a:lstStyle/>
          <a:p>
            <a:r>
              <a:rPr lang="en-US"/>
              <a:t>Customers that doesn't have partners are more likely to churn</a:t>
            </a:r>
            <a:endParaRPr lang="en-IN"/>
          </a:p>
        </p:txBody>
      </p:sp>
    </p:spTree>
    <p:extLst>
      <p:ext uri="{BB962C8B-B14F-4D97-AF65-F5344CB8AC3E}">
        <p14:creationId xmlns:p14="http://schemas.microsoft.com/office/powerpoint/2010/main" val="937729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3E5224-377E-8547-69CE-7BD311ECC869}"/>
              </a:ext>
            </a:extLst>
          </p:cNvPr>
          <p:cNvPicPr>
            <a:picLocks noChangeAspect="1"/>
          </p:cNvPicPr>
          <p:nvPr/>
        </p:nvPicPr>
        <p:blipFill>
          <a:blip r:embed="rId2">
            <a:duotone>
              <a:prstClr val="black"/>
              <a:schemeClr val="accent4">
                <a:tint val="45000"/>
                <a:satMod val="400000"/>
              </a:schemeClr>
            </a:duotone>
          </a:blip>
          <a:stretch>
            <a:fillRect/>
          </a:stretch>
        </p:blipFill>
        <p:spPr>
          <a:xfrm>
            <a:off x="155203" y="234781"/>
            <a:ext cx="9134270" cy="1234547"/>
          </a:xfrm>
          <a:prstGeom prst="rect">
            <a:avLst/>
          </a:prstGeom>
        </p:spPr>
      </p:pic>
      <p:pic>
        <p:nvPicPr>
          <p:cNvPr id="5" name="Picture 4">
            <a:extLst>
              <a:ext uri="{FF2B5EF4-FFF2-40B4-BE49-F238E27FC236}">
                <a16:creationId xmlns:a16="http://schemas.microsoft.com/office/drawing/2014/main" id="{2B5600B1-8835-D034-B7BF-6A347367592C}"/>
              </a:ext>
            </a:extLst>
          </p:cNvPr>
          <p:cNvPicPr>
            <a:picLocks noChangeAspect="1"/>
          </p:cNvPicPr>
          <p:nvPr/>
        </p:nvPicPr>
        <p:blipFill>
          <a:blip r:embed="rId3"/>
          <a:stretch>
            <a:fillRect/>
          </a:stretch>
        </p:blipFill>
        <p:spPr>
          <a:xfrm>
            <a:off x="155202" y="1469328"/>
            <a:ext cx="7939315" cy="4224890"/>
          </a:xfrm>
          <a:prstGeom prst="rect">
            <a:avLst/>
          </a:prstGeom>
        </p:spPr>
      </p:pic>
      <p:sp>
        <p:nvSpPr>
          <p:cNvPr id="9" name="TextBox 8">
            <a:extLst>
              <a:ext uri="{FF2B5EF4-FFF2-40B4-BE49-F238E27FC236}">
                <a16:creationId xmlns:a16="http://schemas.microsoft.com/office/drawing/2014/main" id="{563C3E6A-48AD-CEC8-BAE5-67CE3ADE5D5C}"/>
              </a:ext>
            </a:extLst>
          </p:cNvPr>
          <p:cNvSpPr txBox="1"/>
          <p:nvPr/>
        </p:nvSpPr>
        <p:spPr>
          <a:xfrm>
            <a:off x="155201" y="5797080"/>
            <a:ext cx="9134269" cy="646331"/>
          </a:xfrm>
          <a:prstGeom prst="rect">
            <a:avLst/>
          </a:prstGeom>
          <a:solidFill>
            <a:schemeClr val="tx1">
              <a:lumMod val="50000"/>
              <a:lumOff val="50000"/>
            </a:schemeClr>
          </a:solidFill>
        </p:spPr>
        <p:txBody>
          <a:bodyPr wrap="square">
            <a:spAutoFit/>
          </a:bodyPr>
          <a:lstStyle/>
          <a:p>
            <a:r>
              <a:rPr lang="en-US"/>
              <a:t>It can be observed that the fraction of senior citizen is very less.</a:t>
            </a:r>
          </a:p>
          <a:p>
            <a:r>
              <a:rPr lang="en-US"/>
              <a:t>Most of the senior citizens churn.</a:t>
            </a:r>
            <a:endParaRPr lang="en-IN"/>
          </a:p>
        </p:txBody>
      </p:sp>
    </p:spTree>
    <p:extLst>
      <p:ext uri="{BB962C8B-B14F-4D97-AF65-F5344CB8AC3E}">
        <p14:creationId xmlns:p14="http://schemas.microsoft.com/office/powerpoint/2010/main" val="40598262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7A66F4-F79E-FBD5-7B24-26366DD5FD2A}"/>
              </a:ext>
            </a:extLst>
          </p:cNvPr>
          <p:cNvPicPr>
            <a:picLocks noChangeAspect="1"/>
          </p:cNvPicPr>
          <p:nvPr/>
        </p:nvPicPr>
        <p:blipFill>
          <a:blip r:embed="rId2">
            <a:duotone>
              <a:prstClr val="black"/>
              <a:schemeClr val="accent4">
                <a:tint val="45000"/>
                <a:satMod val="400000"/>
              </a:schemeClr>
            </a:duotone>
          </a:blip>
          <a:stretch>
            <a:fillRect/>
          </a:stretch>
        </p:blipFill>
        <p:spPr>
          <a:xfrm>
            <a:off x="124720" y="171395"/>
            <a:ext cx="8842635" cy="1257409"/>
          </a:xfrm>
          <a:prstGeom prst="rect">
            <a:avLst/>
          </a:prstGeom>
        </p:spPr>
      </p:pic>
      <p:pic>
        <p:nvPicPr>
          <p:cNvPr id="5" name="Picture 4">
            <a:extLst>
              <a:ext uri="{FF2B5EF4-FFF2-40B4-BE49-F238E27FC236}">
                <a16:creationId xmlns:a16="http://schemas.microsoft.com/office/drawing/2014/main" id="{95BD8685-0185-D250-E539-2B5FDD5F590B}"/>
              </a:ext>
            </a:extLst>
          </p:cNvPr>
          <p:cNvPicPr>
            <a:picLocks noChangeAspect="1"/>
          </p:cNvPicPr>
          <p:nvPr/>
        </p:nvPicPr>
        <p:blipFill>
          <a:blip r:embed="rId3"/>
          <a:stretch>
            <a:fillRect/>
          </a:stretch>
        </p:blipFill>
        <p:spPr>
          <a:xfrm>
            <a:off x="124719" y="1428804"/>
            <a:ext cx="7772371" cy="4259949"/>
          </a:xfrm>
          <a:prstGeom prst="rect">
            <a:avLst/>
          </a:prstGeom>
        </p:spPr>
      </p:pic>
      <p:sp>
        <p:nvSpPr>
          <p:cNvPr id="7" name="TextBox 6">
            <a:extLst>
              <a:ext uri="{FF2B5EF4-FFF2-40B4-BE49-F238E27FC236}">
                <a16:creationId xmlns:a16="http://schemas.microsoft.com/office/drawing/2014/main" id="{65C01635-F133-B43A-ED05-42ACAABCB41D}"/>
              </a:ext>
            </a:extLst>
          </p:cNvPr>
          <p:cNvSpPr txBox="1"/>
          <p:nvPr/>
        </p:nvSpPr>
        <p:spPr>
          <a:xfrm>
            <a:off x="124718" y="5688753"/>
            <a:ext cx="8842634" cy="369332"/>
          </a:xfrm>
          <a:prstGeom prst="rect">
            <a:avLst/>
          </a:prstGeom>
          <a:solidFill>
            <a:schemeClr val="tx1">
              <a:lumMod val="50000"/>
              <a:lumOff val="50000"/>
            </a:schemeClr>
          </a:solidFill>
        </p:spPr>
        <p:txBody>
          <a:bodyPr wrap="square">
            <a:spAutoFit/>
          </a:bodyPr>
          <a:lstStyle/>
          <a:p>
            <a:r>
              <a:rPr lang="en-US"/>
              <a:t>Most customers churn in the absence of online security.</a:t>
            </a:r>
            <a:endParaRPr lang="en-IN"/>
          </a:p>
        </p:txBody>
      </p:sp>
    </p:spTree>
    <p:extLst>
      <p:ext uri="{BB962C8B-B14F-4D97-AF65-F5344CB8AC3E}">
        <p14:creationId xmlns:p14="http://schemas.microsoft.com/office/powerpoint/2010/main" val="13976519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E1A569-3F7B-3041-7EF4-C61C0F3A4A52}"/>
              </a:ext>
            </a:extLst>
          </p:cNvPr>
          <p:cNvPicPr>
            <a:picLocks noChangeAspect="1"/>
          </p:cNvPicPr>
          <p:nvPr/>
        </p:nvPicPr>
        <p:blipFill>
          <a:blip r:embed="rId2">
            <a:duotone>
              <a:prstClr val="black"/>
              <a:schemeClr val="accent4">
                <a:tint val="45000"/>
                <a:satMod val="400000"/>
              </a:schemeClr>
            </a:duotone>
          </a:blip>
          <a:stretch>
            <a:fillRect/>
          </a:stretch>
        </p:blipFill>
        <p:spPr>
          <a:xfrm>
            <a:off x="141002" y="209848"/>
            <a:ext cx="8514625" cy="1097375"/>
          </a:xfrm>
          <a:prstGeom prst="rect">
            <a:avLst/>
          </a:prstGeom>
        </p:spPr>
      </p:pic>
      <p:pic>
        <p:nvPicPr>
          <p:cNvPr id="5" name="Picture 4">
            <a:extLst>
              <a:ext uri="{FF2B5EF4-FFF2-40B4-BE49-F238E27FC236}">
                <a16:creationId xmlns:a16="http://schemas.microsoft.com/office/drawing/2014/main" id="{5B38B4F0-09C6-9E75-A353-70B0EF238AD7}"/>
              </a:ext>
            </a:extLst>
          </p:cNvPr>
          <p:cNvPicPr>
            <a:picLocks noChangeAspect="1"/>
          </p:cNvPicPr>
          <p:nvPr/>
        </p:nvPicPr>
        <p:blipFill>
          <a:blip r:embed="rId3"/>
          <a:stretch>
            <a:fillRect/>
          </a:stretch>
        </p:blipFill>
        <p:spPr>
          <a:xfrm>
            <a:off x="141002" y="1668597"/>
            <a:ext cx="7517098" cy="4206605"/>
          </a:xfrm>
          <a:prstGeom prst="rect">
            <a:avLst/>
          </a:prstGeom>
        </p:spPr>
      </p:pic>
      <p:sp>
        <p:nvSpPr>
          <p:cNvPr id="7" name="TextBox 6">
            <a:extLst>
              <a:ext uri="{FF2B5EF4-FFF2-40B4-BE49-F238E27FC236}">
                <a16:creationId xmlns:a16="http://schemas.microsoft.com/office/drawing/2014/main" id="{1F7D0C31-40EB-F2D8-D91B-280F14135DCF}"/>
              </a:ext>
            </a:extLst>
          </p:cNvPr>
          <p:cNvSpPr txBox="1"/>
          <p:nvPr/>
        </p:nvSpPr>
        <p:spPr>
          <a:xfrm>
            <a:off x="141001" y="6051910"/>
            <a:ext cx="8514625" cy="369332"/>
          </a:xfrm>
          <a:prstGeom prst="rect">
            <a:avLst/>
          </a:prstGeom>
          <a:solidFill>
            <a:schemeClr val="tx1">
              <a:lumMod val="50000"/>
              <a:lumOff val="50000"/>
            </a:schemeClr>
          </a:solidFill>
        </p:spPr>
        <p:txBody>
          <a:bodyPr wrap="square">
            <a:spAutoFit/>
          </a:bodyPr>
          <a:lstStyle/>
          <a:p>
            <a:r>
              <a:rPr lang="en-US"/>
              <a:t>Customers with Paperless Billing are most likely to churn.</a:t>
            </a:r>
            <a:endParaRPr lang="en-IN"/>
          </a:p>
        </p:txBody>
      </p:sp>
    </p:spTree>
    <p:extLst>
      <p:ext uri="{BB962C8B-B14F-4D97-AF65-F5344CB8AC3E}">
        <p14:creationId xmlns:p14="http://schemas.microsoft.com/office/powerpoint/2010/main" val="2356268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93C21C-C92F-5416-122A-735FE9354BFF}"/>
              </a:ext>
            </a:extLst>
          </p:cNvPr>
          <p:cNvPicPr>
            <a:picLocks noChangeAspect="1"/>
          </p:cNvPicPr>
          <p:nvPr/>
        </p:nvPicPr>
        <p:blipFill>
          <a:blip r:embed="rId2">
            <a:duotone>
              <a:prstClr val="black"/>
              <a:schemeClr val="accent4">
                <a:tint val="45000"/>
                <a:satMod val="400000"/>
              </a:schemeClr>
            </a:duotone>
          </a:blip>
          <a:stretch>
            <a:fillRect/>
          </a:stretch>
        </p:blipFill>
        <p:spPr>
          <a:xfrm>
            <a:off x="126450" y="130881"/>
            <a:ext cx="8955205" cy="1005927"/>
          </a:xfrm>
          <a:prstGeom prst="rect">
            <a:avLst/>
          </a:prstGeom>
        </p:spPr>
      </p:pic>
      <p:pic>
        <p:nvPicPr>
          <p:cNvPr id="5" name="Picture 4">
            <a:extLst>
              <a:ext uri="{FF2B5EF4-FFF2-40B4-BE49-F238E27FC236}">
                <a16:creationId xmlns:a16="http://schemas.microsoft.com/office/drawing/2014/main" id="{3EC67A32-BD8A-4A07-D331-D3F06E22C31C}"/>
              </a:ext>
            </a:extLst>
          </p:cNvPr>
          <p:cNvPicPr>
            <a:picLocks noChangeAspect="1"/>
          </p:cNvPicPr>
          <p:nvPr/>
        </p:nvPicPr>
        <p:blipFill>
          <a:blip r:embed="rId3"/>
          <a:stretch>
            <a:fillRect/>
          </a:stretch>
        </p:blipFill>
        <p:spPr>
          <a:xfrm>
            <a:off x="126450" y="1333318"/>
            <a:ext cx="7593995" cy="4191363"/>
          </a:xfrm>
          <a:prstGeom prst="rect">
            <a:avLst/>
          </a:prstGeom>
        </p:spPr>
      </p:pic>
      <p:sp>
        <p:nvSpPr>
          <p:cNvPr id="7" name="TextBox 6">
            <a:extLst>
              <a:ext uri="{FF2B5EF4-FFF2-40B4-BE49-F238E27FC236}">
                <a16:creationId xmlns:a16="http://schemas.microsoft.com/office/drawing/2014/main" id="{26DD9EE2-ED7D-4871-F427-CCEAD9BD4AF7}"/>
              </a:ext>
            </a:extLst>
          </p:cNvPr>
          <p:cNvSpPr txBox="1"/>
          <p:nvPr/>
        </p:nvSpPr>
        <p:spPr>
          <a:xfrm>
            <a:off x="126450" y="5721191"/>
            <a:ext cx="8955204" cy="369332"/>
          </a:xfrm>
          <a:prstGeom prst="rect">
            <a:avLst/>
          </a:prstGeom>
          <a:solidFill>
            <a:schemeClr val="tx1">
              <a:lumMod val="50000"/>
              <a:lumOff val="50000"/>
            </a:schemeClr>
          </a:solidFill>
        </p:spPr>
        <p:txBody>
          <a:bodyPr wrap="square">
            <a:spAutoFit/>
          </a:bodyPr>
          <a:lstStyle/>
          <a:p>
            <a:r>
              <a:rPr lang="en-US"/>
              <a:t>Customers with no TechSupport are most likely to migrate to another service provider.</a:t>
            </a:r>
            <a:endParaRPr lang="en-IN"/>
          </a:p>
        </p:txBody>
      </p:sp>
    </p:spTree>
    <p:extLst>
      <p:ext uri="{BB962C8B-B14F-4D97-AF65-F5344CB8AC3E}">
        <p14:creationId xmlns:p14="http://schemas.microsoft.com/office/powerpoint/2010/main" val="2654891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910C19-34A7-938F-9619-FD18B5D77C4E}"/>
              </a:ext>
            </a:extLst>
          </p:cNvPr>
          <p:cNvPicPr>
            <a:picLocks noChangeAspect="1"/>
          </p:cNvPicPr>
          <p:nvPr/>
        </p:nvPicPr>
        <p:blipFill>
          <a:blip r:embed="rId2">
            <a:duotone>
              <a:prstClr val="black"/>
              <a:schemeClr val="accent4">
                <a:tint val="45000"/>
                <a:satMod val="400000"/>
              </a:schemeClr>
            </a:duotone>
          </a:blip>
          <a:stretch>
            <a:fillRect/>
          </a:stretch>
        </p:blipFill>
        <p:spPr>
          <a:xfrm>
            <a:off x="197807" y="194948"/>
            <a:ext cx="9164402" cy="1272650"/>
          </a:xfrm>
          <a:prstGeom prst="rect">
            <a:avLst/>
          </a:prstGeom>
        </p:spPr>
      </p:pic>
      <p:pic>
        <p:nvPicPr>
          <p:cNvPr id="5" name="Picture 4">
            <a:extLst>
              <a:ext uri="{FF2B5EF4-FFF2-40B4-BE49-F238E27FC236}">
                <a16:creationId xmlns:a16="http://schemas.microsoft.com/office/drawing/2014/main" id="{CEBABBCD-4037-E39C-3272-D88622B4E92F}"/>
              </a:ext>
            </a:extLst>
          </p:cNvPr>
          <p:cNvPicPr>
            <a:picLocks noChangeAspect="1"/>
          </p:cNvPicPr>
          <p:nvPr/>
        </p:nvPicPr>
        <p:blipFill>
          <a:blip r:embed="rId3"/>
          <a:stretch>
            <a:fillRect/>
          </a:stretch>
        </p:blipFill>
        <p:spPr>
          <a:xfrm>
            <a:off x="197807" y="1636734"/>
            <a:ext cx="7720066" cy="4145639"/>
          </a:xfrm>
          <a:prstGeom prst="rect">
            <a:avLst/>
          </a:prstGeom>
        </p:spPr>
      </p:pic>
      <p:sp>
        <p:nvSpPr>
          <p:cNvPr id="7" name="TextBox 6">
            <a:extLst>
              <a:ext uri="{FF2B5EF4-FFF2-40B4-BE49-F238E27FC236}">
                <a16:creationId xmlns:a16="http://schemas.microsoft.com/office/drawing/2014/main" id="{BF7BC19E-50E5-E800-8777-7D29B62060A5}"/>
              </a:ext>
            </a:extLst>
          </p:cNvPr>
          <p:cNvSpPr txBox="1"/>
          <p:nvPr/>
        </p:nvSpPr>
        <p:spPr>
          <a:xfrm>
            <a:off x="197806" y="5951509"/>
            <a:ext cx="9164401" cy="646331"/>
          </a:xfrm>
          <a:prstGeom prst="rect">
            <a:avLst/>
          </a:prstGeom>
          <a:solidFill>
            <a:schemeClr val="tx1">
              <a:lumMod val="50000"/>
              <a:lumOff val="50000"/>
            </a:schemeClr>
          </a:solidFill>
        </p:spPr>
        <p:txBody>
          <a:bodyPr wrap="square">
            <a:spAutoFit/>
          </a:bodyPr>
          <a:lstStyle/>
          <a:p>
            <a:r>
              <a:rPr lang="en-US"/>
              <a:t>Very small fraction of customers don't have a phone service and out of that, 1/3rd Customers are more likely to churn.</a:t>
            </a:r>
            <a:endParaRPr lang="en-IN"/>
          </a:p>
        </p:txBody>
      </p:sp>
    </p:spTree>
    <p:extLst>
      <p:ext uri="{BB962C8B-B14F-4D97-AF65-F5344CB8AC3E}">
        <p14:creationId xmlns:p14="http://schemas.microsoft.com/office/powerpoint/2010/main" val="21670980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CE20D1-FE02-0D57-B8D0-2E5D458955B1}"/>
              </a:ext>
            </a:extLst>
          </p:cNvPr>
          <p:cNvPicPr>
            <a:picLocks noChangeAspect="1"/>
          </p:cNvPicPr>
          <p:nvPr/>
        </p:nvPicPr>
        <p:blipFill>
          <a:blip r:embed="rId2">
            <a:duotone>
              <a:prstClr val="black"/>
              <a:schemeClr val="accent4">
                <a:tint val="45000"/>
                <a:satMod val="400000"/>
              </a:schemeClr>
            </a:duotone>
          </a:blip>
          <a:stretch>
            <a:fillRect/>
          </a:stretch>
        </p:blipFill>
        <p:spPr>
          <a:xfrm>
            <a:off x="194446" y="194907"/>
            <a:ext cx="7629909" cy="2187130"/>
          </a:xfrm>
          <a:prstGeom prst="rect">
            <a:avLst/>
          </a:prstGeom>
        </p:spPr>
      </p:pic>
      <p:pic>
        <p:nvPicPr>
          <p:cNvPr id="5" name="Picture 4">
            <a:extLst>
              <a:ext uri="{FF2B5EF4-FFF2-40B4-BE49-F238E27FC236}">
                <a16:creationId xmlns:a16="http://schemas.microsoft.com/office/drawing/2014/main" id="{06E0692F-96BE-5F70-023B-AD56DDB51A20}"/>
              </a:ext>
            </a:extLst>
          </p:cNvPr>
          <p:cNvPicPr>
            <a:picLocks noChangeAspect="1"/>
          </p:cNvPicPr>
          <p:nvPr/>
        </p:nvPicPr>
        <p:blipFill>
          <a:blip r:embed="rId3"/>
          <a:stretch>
            <a:fillRect/>
          </a:stretch>
        </p:blipFill>
        <p:spPr>
          <a:xfrm>
            <a:off x="194444" y="2521264"/>
            <a:ext cx="7629909" cy="3909399"/>
          </a:xfrm>
          <a:prstGeom prst="rect">
            <a:avLst/>
          </a:prstGeom>
        </p:spPr>
      </p:pic>
      <p:sp>
        <p:nvSpPr>
          <p:cNvPr id="7" name="TextBox 6">
            <a:extLst>
              <a:ext uri="{FF2B5EF4-FFF2-40B4-BE49-F238E27FC236}">
                <a16:creationId xmlns:a16="http://schemas.microsoft.com/office/drawing/2014/main" id="{594A7552-B964-DBC2-36AB-61AA60D14E3F}"/>
              </a:ext>
            </a:extLst>
          </p:cNvPr>
          <p:cNvSpPr txBox="1"/>
          <p:nvPr/>
        </p:nvSpPr>
        <p:spPr>
          <a:xfrm>
            <a:off x="194445" y="6291436"/>
            <a:ext cx="7629908" cy="369332"/>
          </a:xfrm>
          <a:prstGeom prst="rect">
            <a:avLst/>
          </a:prstGeom>
          <a:solidFill>
            <a:schemeClr val="tx1">
              <a:lumMod val="50000"/>
              <a:lumOff val="50000"/>
            </a:schemeClr>
          </a:solidFill>
        </p:spPr>
        <p:txBody>
          <a:bodyPr wrap="square">
            <a:spAutoFit/>
          </a:bodyPr>
          <a:lstStyle/>
          <a:p>
            <a:r>
              <a:rPr lang="en-US"/>
              <a:t>Customers with higher Monthly Charges are also more likely to churn</a:t>
            </a:r>
            <a:endParaRPr lang="en-IN"/>
          </a:p>
        </p:txBody>
      </p:sp>
    </p:spTree>
    <p:extLst>
      <p:ext uri="{BB962C8B-B14F-4D97-AF65-F5344CB8AC3E}">
        <p14:creationId xmlns:p14="http://schemas.microsoft.com/office/powerpoint/2010/main" val="2184959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AC207A-35D2-D643-BD29-AC3C4BB92722}"/>
              </a:ext>
            </a:extLst>
          </p:cNvPr>
          <p:cNvPicPr>
            <a:picLocks noChangeAspect="1"/>
          </p:cNvPicPr>
          <p:nvPr/>
        </p:nvPicPr>
        <p:blipFill>
          <a:blip r:embed="rId2">
            <a:duotone>
              <a:prstClr val="black"/>
              <a:schemeClr val="accent4">
                <a:tint val="45000"/>
                <a:satMod val="400000"/>
              </a:schemeClr>
            </a:duotone>
          </a:blip>
          <a:stretch>
            <a:fillRect/>
          </a:stretch>
        </p:blipFill>
        <p:spPr>
          <a:xfrm>
            <a:off x="202766" y="206009"/>
            <a:ext cx="6520152" cy="1790855"/>
          </a:xfrm>
          <a:prstGeom prst="rect">
            <a:avLst/>
          </a:prstGeom>
        </p:spPr>
      </p:pic>
      <p:pic>
        <p:nvPicPr>
          <p:cNvPr id="5" name="Picture 4">
            <a:extLst>
              <a:ext uri="{FF2B5EF4-FFF2-40B4-BE49-F238E27FC236}">
                <a16:creationId xmlns:a16="http://schemas.microsoft.com/office/drawing/2014/main" id="{BA96F539-6BC5-A40D-B12F-ABE4AA1888DC}"/>
              </a:ext>
            </a:extLst>
          </p:cNvPr>
          <p:cNvPicPr>
            <a:picLocks noChangeAspect="1"/>
          </p:cNvPicPr>
          <p:nvPr/>
        </p:nvPicPr>
        <p:blipFill>
          <a:blip r:embed="rId3"/>
          <a:stretch>
            <a:fillRect/>
          </a:stretch>
        </p:blipFill>
        <p:spPr>
          <a:xfrm>
            <a:off x="202766" y="2107106"/>
            <a:ext cx="6520152" cy="3932261"/>
          </a:xfrm>
          <a:prstGeom prst="rect">
            <a:avLst/>
          </a:prstGeom>
        </p:spPr>
      </p:pic>
    </p:spTree>
    <p:extLst>
      <p:ext uri="{BB962C8B-B14F-4D97-AF65-F5344CB8AC3E}">
        <p14:creationId xmlns:p14="http://schemas.microsoft.com/office/powerpoint/2010/main" val="32196635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789F42-9CCE-B5B6-1E30-948891B2D1E2}"/>
              </a:ext>
            </a:extLst>
          </p:cNvPr>
          <p:cNvPicPr>
            <a:picLocks noChangeAspect="1"/>
          </p:cNvPicPr>
          <p:nvPr/>
        </p:nvPicPr>
        <p:blipFill>
          <a:blip r:embed="rId2">
            <a:duotone>
              <a:prstClr val="black"/>
              <a:schemeClr val="accent4">
                <a:tint val="45000"/>
                <a:satMod val="400000"/>
              </a:schemeClr>
            </a:duotone>
          </a:blip>
          <a:stretch>
            <a:fillRect/>
          </a:stretch>
        </p:blipFill>
        <p:spPr>
          <a:xfrm>
            <a:off x="221673" y="1051354"/>
            <a:ext cx="5633124" cy="3276884"/>
          </a:xfrm>
          <a:prstGeom prst="rect">
            <a:avLst/>
          </a:prstGeom>
        </p:spPr>
      </p:pic>
      <p:pic>
        <p:nvPicPr>
          <p:cNvPr id="5" name="Picture 4">
            <a:extLst>
              <a:ext uri="{FF2B5EF4-FFF2-40B4-BE49-F238E27FC236}">
                <a16:creationId xmlns:a16="http://schemas.microsoft.com/office/drawing/2014/main" id="{22F4577E-4FD5-1BDC-BCF7-D100644BF81A}"/>
              </a:ext>
            </a:extLst>
          </p:cNvPr>
          <p:cNvPicPr>
            <a:picLocks noChangeAspect="1"/>
          </p:cNvPicPr>
          <p:nvPr/>
        </p:nvPicPr>
        <p:blipFill>
          <a:blip r:embed="rId3"/>
          <a:stretch>
            <a:fillRect/>
          </a:stretch>
        </p:blipFill>
        <p:spPr>
          <a:xfrm>
            <a:off x="5933210" y="152116"/>
            <a:ext cx="6037117" cy="5075360"/>
          </a:xfrm>
          <a:prstGeom prst="rect">
            <a:avLst/>
          </a:prstGeom>
        </p:spPr>
      </p:pic>
      <p:sp>
        <p:nvSpPr>
          <p:cNvPr id="7" name="TextBox 6">
            <a:extLst>
              <a:ext uri="{FF2B5EF4-FFF2-40B4-BE49-F238E27FC236}">
                <a16:creationId xmlns:a16="http://schemas.microsoft.com/office/drawing/2014/main" id="{C9902138-46AE-4F9B-522C-8EF224A6FE61}"/>
              </a:ext>
            </a:extLst>
          </p:cNvPr>
          <p:cNvSpPr txBox="1"/>
          <p:nvPr/>
        </p:nvSpPr>
        <p:spPr>
          <a:xfrm>
            <a:off x="387061" y="5717370"/>
            <a:ext cx="11583266" cy="369332"/>
          </a:xfrm>
          <a:prstGeom prst="rect">
            <a:avLst/>
          </a:prstGeom>
          <a:solidFill>
            <a:schemeClr val="tx1">
              <a:lumMod val="50000"/>
              <a:lumOff val="50000"/>
            </a:schemeClr>
          </a:solidFill>
        </p:spPr>
        <p:txBody>
          <a:bodyPr wrap="square">
            <a:spAutoFit/>
          </a:bodyPr>
          <a:lstStyle/>
          <a:p>
            <a:r>
              <a:rPr lang="en-US"/>
              <a:t>New customers are more likely to churn</a:t>
            </a:r>
            <a:endParaRPr lang="en-IN"/>
          </a:p>
        </p:txBody>
      </p:sp>
    </p:spTree>
    <p:extLst>
      <p:ext uri="{BB962C8B-B14F-4D97-AF65-F5344CB8AC3E}">
        <p14:creationId xmlns:p14="http://schemas.microsoft.com/office/powerpoint/2010/main" val="13186482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9031E6-22D1-570D-5CF2-36EB27C96C56}"/>
              </a:ext>
            </a:extLst>
          </p:cNvPr>
          <p:cNvSpPr txBox="1"/>
          <p:nvPr/>
        </p:nvSpPr>
        <p:spPr>
          <a:xfrm>
            <a:off x="220806" y="241361"/>
            <a:ext cx="11042939" cy="584775"/>
          </a:xfrm>
          <a:prstGeom prst="rect">
            <a:avLst/>
          </a:prstGeom>
          <a:solidFill>
            <a:schemeClr val="accent5">
              <a:lumMod val="75000"/>
            </a:schemeClr>
          </a:solidFill>
        </p:spPr>
        <p:txBody>
          <a:bodyPr wrap="square">
            <a:spAutoFit/>
          </a:bodyPr>
          <a:lstStyle/>
          <a:p>
            <a:r>
              <a:rPr lang="en-IN" sz="3200"/>
              <a:t>7. Data Preprocessing</a:t>
            </a:r>
          </a:p>
        </p:txBody>
      </p:sp>
      <p:pic>
        <p:nvPicPr>
          <p:cNvPr id="5" name="Picture 4">
            <a:extLst>
              <a:ext uri="{FF2B5EF4-FFF2-40B4-BE49-F238E27FC236}">
                <a16:creationId xmlns:a16="http://schemas.microsoft.com/office/drawing/2014/main" id="{095955BF-0940-34D3-3DF0-0C547CB72F23}"/>
              </a:ext>
            </a:extLst>
          </p:cNvPr>
          <p:cNvPicPr>
            <a:picLocks noChangeAspect="1"/>
          </p:cNvPicPr>
          <p:nvPr/>
        </p:nvPicPr>
        <p:blipFill>
          <a:blip r:embed="rId2">
            <a:duotone>
              <a:prstClr val="black"/>
              <a:schemeClr val="accent4">
                <a:tint val="45000"/>
                <a:satMod val="400000"/>
              </a:schemeClr>
            </a:duotone>
          </a:blip>
          <a:stretch>
            <a:fillRect/>
          </a:stretch>
        </p:blipFill>
        <p:spPr>
          <a:xfrm>
            <a:off x="220806" y="826135"/>
            <a:ext cx="6387812" cy="2758727"/>
          </a:xfrm>
          <a:prstGeom prst="rect">
            <a:avLst/>
          </a:prstGeom>
        </p:spPr>
      </p:pic>
      <p:pic>
        <p:nvPicPr>
          <p:cNvPr id="7" name="Picture 6">
            <a:extLst>
              <a:ext uri="{FF2B5EF4-FFF2-40B4-BE49-F238E27FC236}">
                <a16:creationId xmlns:a16="http://schemas.microsoft.com/office/drawing/2014/main" id="{53DEC601-45D8-B233-795F-213A3C8E4DE1}"/>
              </a:ext>
            </a:extLst>
          </p:cNvPr>
          <p:cNvPicPr>
            <a:picLocks noChangeAspect="1"/>
          </p:cNvPicPr>
          <p:nvPr/>
        </p:nvPicPr>
        <p:blipFill>
          <a:blip r:embed="rId3"/>
          <a:stretch>
            <a:fillRect/>
          </a:stretch>
        </p:blipFill>
        <p:spPr>
          <a:xfrm>
            <a:off x="220806" y="3584862"/>
            <a:ext cx="6387812" cy="2199719"/>
          </a:xfrm>
          <a:prstGeom prst="rect">
            <a:avLst/>
          </a:prstGeom>
        </p:spPr>
      </p:pic>
      <p:pic>
        <p:nvPicPr>
          <p:cNvPr id="9" name="Picture 8">
            <a:extLst>
              <a:ext uri="{FF2B5EF4-FFF2-40B4-BE49-F238E27FC236}">
                <a16:creationId xmlns:a16="http://schemas.microsoft.com/office/drawing/2014/main" id="{4F979A86-3D4C-FE0D-3C61-7784A4165DDB}"/>
              </a:ext>
            </a:extLst>
          </p:cNvPr>
          <p:cNvPicPr>
            <a:picLocks noChangeAspect="1"/>
          </p:cNvPicPr>
          <p:nvPr/>
        </p:nvPicPr>
        <p:blipFill>
          <a:blip r:embed="rId4">
            <a:duotone>
              <a:prstClr val="black"/>
              <a:schemeClr val="accent6">
                <a:tint val="45000"/>
                <a:satMod val="400000"/>
              </a:schemeClr>
            </a:duotone>
          </a:blip>
          <a:stretch>
            <a:fillRect/>
          </a:stretch>
        </p:blipFill>
        <p:spPr>
          <a:xfrm>
            <a:off x="6608618" y="826133"/>
            <a:ext cx="4655127" cy="711721"/>
          </a:xfrm>
          <a:prstGeom prst="rect">
            <a:avLst/>
          </a:prstGeom>
        </p:spPr>
      </p:pic>
      <p:pic>
        <p:nvPicPr>
          <p:cNvPr id="11" name="Picture 10">
            <a:extLst>
              <a:ext uri="{FF2B5EF4-FFF2-40B4-BE49-F238E27FC236}">
                <a16:creationId xmlns:a16="http://schemas.microsoft.com/office/drawing/2014/main" id="{2C0DB212-F454-9264-ED83-9E558BFF04A8}"/>
              </a:ext>
            </a:extLst>
          </p:cNvPr>
          <p:cNvPicPr>
            <a:picLocks noChangeAspect="1"/>
          </p:cNvPicPr>
          <p:nvPr/>
        </p:nvPicPr>
        <p:blipFill>
          <a:blip r:embed="rId5">
            <a:duotone>
              <a:prstClr val="black"/>
              <a:schemeClr val="accent2">
                <a:tint val="45000"/>
                <a:satMod val="400000"/>
              </a:schemeClr>
            </a:duotone>
          </a:blip>
          <a:stretch>
            <a:fillRect/>
          </a:stretch>
        </p:blipFill>
        <p:spPr>
          <a:xfrm>
            <a:off x="6608618" y="1635046"/>
            <a:ext cx="2438611" cy="3587908"/>
          </a:xfrm>
          <a:prstGeom prst="rect">
            <a:avLst/>
          </a:prstGeom>
        </p:spPr>
      </p:pic>
      <p:pic>
        <p:nvPicPr>
          <p:cNvPr id="13" name="Picture 12">
            <a:extLst>
              <a:ext uri="{FF2B5EF4-FFF2-40B4-BE49-F238E27FC236}">
                <a16:creationId xmlns:a16="http://schemas.microsoft.com/office/drawing/2014/main" id="{508DFD4E-4BD5-6C9C-9DE0-A35C71FAA1C3}"/>
              </a:ext>
            </a:extLst>
          </p:cNvPr>
          <p:cNvPicPr>
            <a:picLocks noChangeAspect="1"/>
          </p:cNvPicPr>
          <p:nvPr/>
        </p:nvPicPr>
        <p:blipFill>
          <a:blip r:embed="rId6">
            <a:duotone>
              <a:prstClr val="black"/>
              <a:schemeClr val="accent2">
                <a:tint val="45000"/>
                <a:satMod val="400000"/>
              </a:schemeClr>
            </a:duotone>
          </a:blip>
          <a:stretch>
            <a:fillRect/>
          </a:stretch>
        </p:blipFill>
        <p:spPr>
          <a:xfrm>
            <a:off x="8999136" y="1635046"/>
            <a:ext cx="2972058" cy="4069563"/>
          </a:xfrm>
          <a:prstGeom prst="rect">
            <a:avLst/>
          </a:prstGeom>
        </p:spPr>
      </p:pic>
    </p:spTree>
    <p:extLst>
      <p:ext uri="{BB962C8B-B14F-4D97-AF65-F5344CB8AC3E}">
        <p14:creationId xmlns:p14="http://schemas.microsoft.com/office/powerpoint/2010/main" val="5092238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23224F-A463-181B-5F3A-CB0B57337FCD}"/>
              </a:ext>
            </a:extLst>
          </p:cNvPr>
          <p:cNvPicPr>
            <a:picLocks noChangeAspect="1"/>
          </p:cNvPicPr>
          <p:nvPr/>
        </p:nvPicPr>
        <p:blipFill>
          <a:blip r:embed="rId2">
            <a:duotone>
              <a:prstClr val="black"/>
              <a:schemeClr val="accent6">
                <a:tint val="45000"/>
                <a:satMod val="400000"/>
              </a:schemeClr>
            </a:duotone>
          </a:blip>
          <a:stretch>
            <a:fillRect/>
          </a:stretch>
        </p:blipFill>
        <p:spPr>
          <a:xfrm>
            <a:off x="178404" y="228600"/>
            <a:ext cx="7346317" cy="1470787"/>
          </a:xfrm>
          <a:prstGeom prst="rect">
            <a:avLst/>
          </a:prstGeom>
        </p:spPr>
      </p:pic>
      <p:pic>
        <p:nvPicPr>
          <p:cNvPr id="5" name="Picture 4">
            <a:extLst>
              <a:ext uri="{FF2B5EF4-FFF2-40B4-BE49-F238E27FC236}">
                <a16:creationId xmlns:a16="http://schemas.microsoft.com/office/drawing/2014/main" id="{CC315423-EF0F-78A4-474C-5BD35027B4CC}"/>
              </a:ext>
            </a:extLst>
          </p:cNvPr>
          <p:cNvPicPr>
            <a:picLocks noChangeAspect="1"/>
          </p:cNvPicPr>
          <p:nvPr/>
        </p:nvPicPr>
        <p:blipFill>
          <a:blip r:embed="rId3">
            <a:duotone>
              <a:prstClr val="black"/>
              <a:schemeClr val="accent6">
                <a:tint val="45000"/>
                <a:satMod val="400000"/>
              </a:schemeClr>
            </a:duotone>
          </a:blip>
          <a:stretch>
            <a:fillRect/>
          </a:stretch>
        </p:blipFill>
        <p:spPr>
          <a:xfrm>
            <a:off x="178404" y="1699387"/>
            <a:ext cx="6180832" cy="457240"/>
          </a:xfrm>
          <a:prstGeom prst="rect">
            <a:avLst/>
          </a:prstGeom>
        </p:spPr>
      </p:pic>
      <p:pic>
        <p:nvPicPr>
          <p:cNvPr id="7" name="Picture 6">
            <a:extLst>
              <a:ext uri="{FF2B5EF4-FFF2-40B4-BE49-F238E27FC236}">
                <a16:creationId xmlns:a16="http://schemas.microsoft.com/office/drawing/2014/main" id="{76AAF1EF-5246-5FB3-DF19-C799825F1A1B}"/>
              </a:ext>
            </a:extLst>
          </p:cNvPr>
          <p:cNvPicPr>
            <a:picLocks noChangeAspect="1"/>
          </p:cNvPicPr>
          <p:nvPr/>
        </p:nvPicPr>
        <p:blipFill>
          <a:blip r:embed="rId4">
            <a:duotone>
              <a:prstClr val="black"/>
              <a:schemeClr val="accent2">
                <a:tint val="45000"/>
                <a:satMod val="400000"/>
              </a:schemeClr>
            </a:duotone>
          </a:blip>
          <a:stretch>
            <a:fillRect/>
          </a:stretch>
        </p:blipFill>
        <p:spPr>
          <a:xfrm>
            <a:off x="178404" y="2327084"/>
            <a:ext cx="7308213" cy="3055885"/>
          </a:xfrm>
          <a:prstGeom prst="rect">
            <a:avLst/>
          </a:prstGeom>
        </p:spPr>
      </p:pic>
    </p:spTree>
    <p:extLst>
      <p:ext uri="{BB962C8B-B14F-4D97-AF65-F5344CB8AC3E}">
        <p14:creationId xmlns:p14="http://schemas.microsoft.com/office/powerpoint/2010/main" val="1086313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DB0AAE-55AB-546B-3326-76555B283DEC}"/>
              </a:ext>
            </a:extLst>
          </p:cNvPr>
          <p:cNvSpPr txBox="1"/>
          <p:nvPr/>
        </p:nvSpPr>
        <p:spPr>
          <a:xfrm>
            <a:off x="85724" y="158234"/>
            <a:ext cx="11001375" cy="584775"/>
          </a:xfrm>
          <a:prstGeom prst="rect">
            <a:avLst/>
          </a:prstGeom>
          <a:solidFill>
            <a:schemeClr val="accent5">
              <a:lumMod val="75000"/>
            </a:schemeClr>
          </a:solidFill>
        </p:spPr>
        <p:txBody>
          <a:bodyPr wrap="square">
            <a:spAutoFit/>
          </a:bodyPr>
          <a:lstStyle/>
          <a:p>
            <a:r>
              <a:rPr lang="en-US" sz="3200"/>
              <a:t>8. Machine Learning Model Evaluations and Predictions</a:t>
            </a:r>
            <a:endParaRPr lang="en-IN" sz="3200"/>
          </a:p>
        </p:txBody>
      </p:sp>
      <p:sp>
        <p:nvSpPr>
          <p:cNvPr id="5" name="TextBox 4">
            <a:extLst>
              <a:ext uri="{FF2B5EF4-FFF2-40B4-BE49-F238E27FC236}">
                <a16:creationId xmlns:a16="http://schemas.microsoft.com/office/drawing/2014/main" id="{B990287C-1135-31EF-5BC7-43D1916D2B0C}"/>
              </a:ext>
            </a:extLst>
          </p:cNvPr>
          <p:cNvSpPr txBox="1"/>
          <p:nvPr/>
        </p:nvSpPr>
        <p:spPr>
          <a:xfrm>
            <a:off x="85724" y="743009"/>
            <a:ext cx="4706760" cy="461665"/>
          </a:xfrm>
          <a:prstGeom prst="rect">
            <a:avLst/>
          </a:prstGeom>
          <a:solidFill>
            <a:schemeClr val="accent6">
              <a:lumMod val="75000"/>
            </a:schemeClr>
          </a:solidFill>
        </p:spPr>
        <p:txBody>
          <a:bodyPr wrap="square">
            <a:spAutoFit/>
          </a:bodyPr>
          <a:lstStyle/>
          <a:p>
            <a:r>
              <a:rPr lang="en-IN" sz="2400"/>
              <a:t>KNN :</a:t>
            </a:r>
          </a:p>
        </p:txBody>
      </p:sp>
      <p:pic>
        <p:nvPicPr>
          <p:cNvPr id="7" name="Picture 6">
            <a:extLst>
              <a:ext uri="{FF2B5EF4-FFF2-40B4-BE49-F238E27FC236}">
                <a16:creationId xmlns:a16="http://schemas.microsoft.com/office/drawing/2014/main" id="{15F33425-D84B-AEF6-D922-6AF938041AAA}"/>
              </a:ext>
            </a:extLst>
          </p:cNvPr>
          <p:cNvPicPr>
            <a:picLocks noChangeAspect="1"/>
          </p:cNvPicPr>
          <p:nvPr/>
        </p:nvPicPr>
        <p:blipFill>
          <a:blip r:embed="rId2">
            <a:duotone>
              <a:prstClr val="black"/>
              <a:schemeClr val="accent2">
                <a:tint val="45000"/>
                <a:satMod val="400000"/>
              </a:schemeClr>
            </a:duotone>
          </a:blip>
          <a:stretch>
            <a:fillRect/>
          </a:stretch>
        </p:blipFill>
        <p:spPr>
          <a:xfrm>
            <a:off x="85724" y="1373561"/>
            <a:ext cx="4706760" cy="4679085"/>
          </a:xfrm>
          <a:prstGeom prst="rect">
            <a:avLst/>
          </a:prstGeom>
        </p:spPr>
      </p:pic>
      <p:sp>
        <p:nvSpPr>
          <p:cNvPr id="9" name="TextBox 8">
            <a:extLst>
              <a:ext uri="{FF2B5EF4-FFF2-40B4-BE49-F238E27FC236}">
                <a16:creationId xmlns:a16="http://schemas.microsoft.com/office/drawing/2014/main" id="{7DCCDC1B-B002-33E4-433D-5E899612E9D4}"/>
              </a:ext>
            </a:extLst>
          </p:cNvPr>
          <p:cNvSpPr txBox="1"/>
          <p:nvPr/>
        </p:nvSpPr>
        <p:spPr>
          <a:xfrm>
            <a:off x="5288972" y="760886"/>
            <a:ext cx="5798127" cy="432000"/>
          </a:xfrm>
          <a:prstGeom prst="rect">
            <a:avLst/>
          </a:prstGeom>
          <a:solidFill>
            <a:schemeClr val="accent6">
              <a:lumMod val="75000"/>
            </a:schemeClr>
          </a:solidFill>
        </p:spPr>
        <p:txBody>
          <a:bodyPr wrap="square">
            <a:spAutoFit/>
          </a:bodyPr>
          <a:lstStyle/>
          <a:p>
            <a:r>
              <a:rPr lang="en-IN"/>
              <a:t>SVC</a:t>
            </a:r>
          </a:p>
        </p:txBody>
      </p:sp>
      <p:pic>
        <p:nvPicPr>
          <p:cNvPr id="11" name="Picture 10">
            <a:extLst>
              <a:ext uri="{FF2B5EF4-FFF2-40B4-BE49-F238E27FC236}">
                <a16:creationId xmlns:a16="http://schemas.microsoft.com/office/drawing/2014/main" id="{D0E1325B-DE39-AA5F-1148-C4F7DC4ACDA5}"/>
              </a:ext>
            </a:extLst>
          </p:cNvPr>
          <p:cNvPicPr>
            <a:picLocks noChangeAspect="1"/>
          </p:cNvPicPr>
          <p:nvPr/>
        </p:nvPicPr>
        <p:blipFill>
          <a:blip r:embed="rId3">
            <a:duotone>
              <a:prstClr val="black"/>
              <a:schemeClr val="accent2">
                <a:tint val="45000"/>
                <a:satMod val="400000"/>
              </a:schemeClr>
            </a:duotone>
          </a:blip>
          <a:stretch>
            <a:fillRect/>
          </a:stretch>
        </p:blipFill>
        <p:spPr>
          <a:xfrm>
            <a:off x="5288972" y="1373561"/>
            <a:ext cx="4706760" cy="4671465"/>
          </a:xfrm>
          <a:prstGeom prst="rect">
            <a:avLst/>
          </a:prstGeom>
        </p:spPr>
      </p:pic>
    </p:spTree>
    <p:extLst>
      <p:ext uri="{BB962C8B-B14F-4D97-AF65-F5344CB8AC3E}">
        <p14:creationId xmlns:p14="http://schemas.microsoft.com/office/powerpoint/2010/main" val="6730357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C057DD-CAE9-9D1F-74F3-B269CA5433CE}"/>
              </a:ext>
            </a:extLst>
          </p:cNvPr>
          <p:cNvSpPr txBox="1"/>
          <p:nvPr/>
        </p:nvSpPr>
        <p:spPr>
          <a:xfrm>
            <a:off x="179242" y="199798"/>
            <a:ext cx="11292321" cy="369332"/>
          </a:xfrm>
          <a:prstGeom prst="rect">
            <a:avLst/>
          </a:prstGeom>
          <a:solidFill>
            <a:schemeClr val="accent6">
              <a:lumMod val="75000"/>
            </a:schemeClr>
          </a:solidFill>
        </p:spPr>
        <p:txBody>
          <a:bodyPr wrap="square">
            <a:spAutoFit/>
          </a:bodyPr>
          <a:lstStyle/>
          <a:p>
            <a:r>
              <a:rPr lang="en-IN"/>
              <a:t>Random Forest</a:t>
            </a:r>
          </a:p>
        </p:txBody>
      </p:sp>
      <p:pic>
        <p:nvPicPr>
          <p:cNvPr id="5" name="Picture 4">
            <a:extLst>
              <a:ext uri="{FF2B5EF4-FFF2-40B4-BE49-F238E27FC236}">
                <a16:creationId xmlns:a16="http://schemas.microsoft.com/office/drawing/2014/main" id="{CF8E327A-9446-30A4-369A-02063537330D}"/>
              </a:ext>
            </a:extLst>
          </p:cNvPr>
          <p:cNvPicPr>
            <a:picLocks noChangeAspect="1"/>
          </p:cNvPicPr>
          <p:nvPr/>
        </p:nvPicPr>
        <p:blipFill>
          <a:blip r:embed="rId2">
            <a:duotone>
              <a:prstClr val="black"/>
              <a:schemeClr val="accent6">
                <a:tint val="45000"/>
                <a:satMod val="400000"/>
              </a:schemeClr>
            </a:duotone>
          </a:blip>
          <a:stretch>
            <a:fillRect/>
          </a:stretch>
        </p:blipFill>
        <p:spPr>
          <a:xfrm>
            <a:off x="179241" y="569130"/>
            <a:ext cx="5774749" cy="2438611"/>
          </a:xfrm>
          <a:prstGeom prst="rect">
            <a:avLst/>
          </a:prstGeom>
        </p:spPr>
      </p:pic>
      <p:pic>
        <p:nvPicPr>
          <p:cNvPr id="7" name="Picture 6">
            <a:extLst>
              <a:ext uri="{FF2B5EF4-FFF2-40B4-BE49-F238E27FC236}">
                <a16:creationId xmlns:a16="http://schemas.microsoft.com/office/drawing/2014/main" id="{663DC7AA-2BA0-A1D8-5E74-790883D4CBA8}"/>
              </a:ext>
            </a:extLst>
          </p:cNvPr>
          <p:cNvPicPr>
            <a:picLocks noChangeAspect="1"/>
          </p:cNvPicPr>
          <p:nvPr/>
        </p:nvPicPr>
        <p:blipFill>
          <a:blip r:embed="rId3">
            <a:duotone>
              <a:prstClr val="black"/>
              <a:schemeClr val="accent6">
                <a:tint val="45000"/>
                <a:satMod val="400000"/>
              </a:schemeClr>
            </a:duotone>
          </a:blip>
          <a:stretch>
            <a:fillRect/>
          </a:stretch>
        </p:blipFill>
        <p:spPr>
          <a:xfrm>
            <a:off x="179241" y="3007741"/>
            <a:ext cx="4309632" cy="2591025"/>
          </a:xfrm>
          <a:prstGeom prst="rect">
            <a:avLst/>
          </a:prstGeom>
        </p:spPr>
      </p:pic>
      <p:pic>
        <p:nvPicPr>
          <p:cNvPr id="9" name="Picture 8">
            <a:extLst>
              <a:ext uri="{FF2B5EF4-FFF2-40B4-BE49-F238E27FC236}">
                <a16:creationId xmlns:a16="http://schemas.microsoft.com/office/drawing/2014/main" id="{D7FE219C-0755-C889-479A-805E387C4A44}"/>
              </a:ext>
            </a:extLst>
          </p:cNvPr>
          <p:cNvPicPr>
            <a:picLocks noChangeAspect="1"/>
          </p:cNvPicPr>
          <p:nvPr/>
        </p:nvPicPr>
        <p:blipFill>
          <a:blip r:embed="rId4">
            <a:duotone>
              <a:prstClr val="black"/>
              <a:schemeClr val="accent2">
                <a:tint val="45000"/>
                <a:satMod val="400000"/>
              </a:schemeClr>
            </a:duotone>
          </a:blip>
          <a:stretch>
            <a:fillRect/>
          </a:stretch>
        </p:blipFill>
        <p:spPr>
          <a:xfrm>
            <a:off x="5953990" y="569130"/>
            <a:ext cx="5517573" cy="1550615"/>
          </a:xfrm>
          <a:prstGeom prst="rect">
            <a:avLst/>
          </a:prstGeom>
        </p:spPr>
      </p:pic>
      <p:pic>
        <p:nvPicPr>
          <p:cNvPr id="10" name="Picture 9">
            <a:extLst>
              <a:ext uri="{FF2B5EF4-FFF2-40B4-BE49-F238E27FC236}">
                <a16:creationId xmlns:a16="http://schemas.microsoft.com/office/drawing/2014/main" id="{62CAF3DC-C7EA-B1BA-2D81-C6B66752573B}"/>
              </a:ext>
            </a:extLst>
          </p:cNvPr>
          <p:cNvPicPr>
            <a:picLocks noChangeAspect="1"/>
          </p:cNvPicPr>
          <p:nvPr/>
        </p:nvPicPr>
        <p:blipFill>
          <a:blip r:embed="rId5"/>
          <a:stretch>
            <a:fillRect/>
          </a:stretch>
        </p:blipFill>
        <p:spPr>
          <a:xfrm>
            <a:off x="5953990" y="2176467"/>
            <a:ext cx="5517572" cy="3422299"/>
          </a:xfrm>
          <a:prstGeom prst="rect">
            <a:avLst/>
          </a:prstGeom>
        </p:spPr>
      </p:pic>
    </p:spTree>
    <p:extLst>
      <p:ext uri="{BB962C8B-B14F-4D97-AF65-F5344CB8AC3E}">
        <p14:creationId xmlns:p14="http://schemas.microsoft.com/office/powerpoint/2010/main" val="4056299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952BA5-1A50-05CC-E185-5BA4E8DEF898}"/>
              </a:ext>
            </a:extLst>
          </p:cNvPr>
          <p:cNvPicPr>
            <a:picLocks noChangeAspect="1"/>
          </p:cNvPicPr>
          <p:nvPr/>
        </p:nvPicPr>
        <p:blipFill>
          <a:blip r:embed="rId2">
            <a:duotone>
              <a:prstClr val="black"/>
              <a:schemeClr val="accent4">
                <a:tint val="45000"/>
                <a:satMod val="400000"/>
              </a:schemeClr>
            </a:duotone>
          </a:blip>
          <a:stretch>
            <a:fillRect/>
          </a:stretch>
        </p:blipFill>
        <p:spPr>
          <a:xfrm>
            <a:off x="104387" y="689038"/>
            <a:ext cx="4914421" cy="1874682"/>
          </a:xfrm>
          <a:prstGeom prst="rect">
            <a:avLst/>
          </a:prstGeom>
        </p:spPr>
      </p:pic>
      <p:pic>
        <p:nvPicPr>
          <p:cNvPr id="4" name="Picture 3">
            <a:extLst>
              <a:ext uri="{FF2B5EF4-FFF2-40B4-BE49-F238E27FC236}">
                <a16:creationId xmlns:a16="http://schemas.microsoft.com/office/drawing/2014/main" id="{4636A9D9-CE8E-1B52-0C32-C574012818C6}"/>
              </a:ext>
            </a:extLst>
          </p:cNvPr>
          <p:cNvPicPr>
            <a:picLocks noChangeAspect="1"/>
          </p:cNvPicPr>
          <p:nvPr/>
        </p:nvPicPr>
        <p:blipFill>
          <a:blip r:embed="rId3"/>
          <a:stretch>
            <a:fillRect/>
          </a:stretch>
        </p:blipFill>
        <p:spPr>
          <a:xfrm>
            <a:off x="187515" y="2563720"/>
            <a:ext cx="4914421" cy="3011204"/>
          </a:xfrm>
          <a:prstGeom prst="rect">
            <a:avLst/>
          </a:prstGeom>
        </p:spPr>
      </p:pic>
      <p:sp>
        <p:nvSpPr>
          <p:cNvPr id="6" name="TextBox 5">
            <a:extLst>
              <a:ext uri="{FF2B5EF4-FFF2-40B4-BE49-F238E27FC236}">
                <a16:creationId xmlns:a16="http://schemas.microsoft.com/office/drawing/2014/main" id="{D054A46A-800B-4807-4127-27D1B6EF4F63}"/>
              </a:ext>
            </a:extLst>
          </p:cNvPr>
          <p:cNvSpPr txBox="1"/>
          <p:nvPr/>
        </p:nvSpPr>
        <p:spPr>
          <a:xfrm>
            <a:off x="187515" y="220622"/>
            <a:ext cx="4831292" cy="369332"/>
          </a:xfrm>
          <a:prstGeom prst="rect">
            <a:avLst/>
          </a:prstGeom>
          <a:solidFill>
            <a:schemeClr val="accent6">
              <a:lumMod val="75000"/>
            </a:schemeClr>
          </a:solidFill>
        </p:spPr>
        <p:txBody>
          <a:bodyPr wrap="square" rtlCol="0">
            <a:spAutoFit/>
          </a:bodyPr>
          <a:lstStyle/>
          <a:p>
            <a:r>
              <a:rPr lang="en-IN"/>
              <a:t>Random Forest ROC Curve:</a:t>
            </a:r>
          </a:p>
        </p:txBody>
      </p:sp>
      <p:sp>
        <p:nvSpPr>
          <p:cNvPr id="8" name="TextBox 7">
            <a:extLst>
              <a:ext uri="{FF2B5EF4-FFF2-40B4-BE49-F238E27FC236}">
                <a16:creationId xmlns:a16="http://schemas.microsoft.com/office/drawing/2014/main" id="{84B5D8D5-0F98-911E-7720-6C699ADC1536}"/>
              </a:ext>
            </a:extLst>
          </p:cNvPr>
          <p:cNvSpPr txBox="1"/>
          <p:nvPr/>
        </p:nvSpPr>
        <p:spPr>
          <a:xfrm>
            <a:off x="5624079" y="220622"/>
            <a:ext cx="5431848" cy="369332"/>
          </a:xfrm>
          <a:prstGeom prst="rect">
            <a:avLst/>
          </a:prstGeom>
          <a:solidFill>
            <a:schemeClr val="accent6">
              <a:lumMod val="75000"/>
            </a:schemeClr>
          </a:solidFill>
        </p:spPr>
        <p:txBody>
          <a:bodyPr wrap="square">
            <a:spAutoFit/>
          </a:bodyPr>
          <a:lstStyle/>
          <a:p>
            <a:r>
              <a:rPr lang="en-IN"/>
              <a:t>Logistic Regression</a:t>
            </a:r>
          </a:p>
        </p:txBody>
      </p:sp>
      <p:pic>
        <p:nvPicPr>
          <p:cNvPr id="10" name="Picture 9">
            <a:extLst>
              <a:ext uri="{FF2B5EF4-FFF2-40B4-BE49-F238E27FC236}">
                <a16:creationId xmlns:a16="http://schemas.microsoft.com/office/drawing/2014/main" id="{0C51FA76-D8B9-5CC7-1941-DB0C142570BE}"/>
              </a:ext>
            </a:extLst>
          </p:cNvPr>
          <p:cNvPicPr>
            <a:picLocks noChangeAspect="1"/>
          </p:cNvPicPr>
          <p:nvPr/>
        </p:nvPicPr>
        <p:blipFill>
          <a:blip r:embed="rId4">
            <a:duotone>
              <a:prstClr val="black"/>
              <a:schemeClr val="accent2">
                <a:tint val="45000"/>
                <a:satMod val="400000"/>
              </a:schemeClr>
            </a:duotone>
          </a:blip>
          <a:stretch>
            <a:fillRect/>
          </a:stretch>
        </p:blipFill>
        <p:spPr>
          <a:xfrm>
            <a:off x="5624079" y="689038"/>
            <a:ext cx="5431848" cy="1531753"/>
          </a:xfrm>
          <a:prstGeom prst="rect">
            <a:avLst/>
          </a:prstGeom>
        </p:spPr>
      </p:pic>
      <p:pic>
        <p:nvPicPr>
          <p:cNvPr id="12" name="Picture 11">
            <a:extLst>
              <a:ext uri="{FF2B5EF4-FFF2-40B4-BE49-F238E27FC236}">
                <a16:creationId xmlns:a16="http://schemas.microsoft.com/office/drawing/2014/main" id="{5999AA7D-767F-1DA6-39B2-973DD704AF2F}"/>
              </a:ext>
            </a:extLst>
          </p:cNvPr>
          <p:cNvPicPr>
            <a:picLocks noChangeAspect="1"/>
          </p:cNvPicPr>
          <p:nvPr/>
        </p:nvPicPr>
        <p:blipFill>
          <a:blip r:embed="rId5">
            <a:duotone>
              <a:prstClr val="black"/>
              <a:schemeClr val="accent2">
                <a:tint val="45000"/>
                <a:satMod val="400000"/>
              </a:schemeClr>
            </a:duotone>
          </a:blip>
          <a:stretch>
            <a:fillRect/>
          </a:stretch>
        </p:blipFill>
        <p:spPr>
          <a:xfrm>
            <a:off x="5624079" y="2220791"/>
            <a:ext cx="5431848" cy="2964437"/>
          </a:xfrm>
          <a:prstGeom prst="rect">
            <a:avLst/>
          </a:prstGeom>
        </p:spPr>
      </p:pic>
    </p:spTree>
    <p:extLst>
      <p:ext uri="{BB962C8B-B14F-4D97-AF65-F5344CB8AC3E}">
        <p14:creationId xmlns:p14="http://schemas.microsoft.com/office/powerpoint/2010/main" val="36220492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9A28EA-39BD-F8C8-982E-022A99D62ACD}"/>
              </a:ext>
            </a:extLst>
          </p:cNvPr>
          <p:cNvPicPr>
            <a:picLocks noChangeAspect="1"/>
          </p:cNvPicPr>
          <p:nvPr/>
        </p:nvPicPr>
        <p:blipFill>
          <a:blip r:embed="rId2">
            <a:duotone>
              <a:prstClr val="black"/>
              <a:schemeClr val="accent6">
                <a:tint val="45000"/>
                <a:satMod val="400000"/>
              </a:schemeClr>
            </a:duotone>
          </a:blip>
          <a:stretch>
            <a:fillRect/>
          </a:stretch>
        </p:blipFill>
        <p:spPr>
          <a:xfrm>
            <a:off x="93524" y="1446095"/>
            <a:ext cx="5556916" cy="1463167"/>
          </a:xfrm>
          <a:prstGeom prst="rect">
            <a:avLst/>
          </a:prstGeom>
        </p:spPr>
      </p:pic>
      <p:pic>
        <p:nvPicPr>
          <p:cNvPr id="4" name="Picture 3">
            <a:extLst>
              <a:ext uri="{FF2B5EF4-FFF2-40B4-BE49-F238E27FC236}">
                <a16:creationId xmlns:a16="http://schemas.microsoft.com/office/drawing/2014/main" id="{9FEE12CD-BEA9-F88D-D008-C83925C679F8}"/>
              </a:ext>
            </a:extLst>
          </p:cNvPr>
          <p:cNvPicPr>
            <a:picLocks noChangeAspect="1"/>
          </p:cNvPicPr>
          <p:nvPr/>
        </p:nvPicPr>
        <p:blipFill>
          <a:blip r:embed="rId3"/>
          <a:stretch>
            <a:fillRect/>
          </a:stretch>
        </p:blipFill>
        <p:spPr>
          <a:xfrm>
            <a:off x="93524" y="2924174"/>
            <a:ext cx="5556916" cy="3335782"/>
          </a:xfrm>
          <a:prstGeom prst="rect">
            <a:avLst/>
          </a:prstGeom>
        </p:spPr>
      </p:pic>
      <p:pic>
        <p:nvPicPr>
          <p:cNvPr id="6" name="Picture 5">
            <a:extLst>
              <a:ext uri="{FF2B5EF4-FFF2-40B4-BE49-F238E27FC236}">
                <a16:creationId xmlns:a16="http://schemas.microsoft.com/office/drawing/2014/main" id="{908146F2-F72F-89A5-700F-A104FEDC18C0}"/>
              </a:ext>
            </a:extLst>
          </p:cNvPr>
          <p:cNvPicPr>
            <a:picLocks noChangeAspect="1"/>
          </p:cNvPicPr>
          <p:nvPr/>
        </p:nvPicPr>
        <p:blipFill>
          <a:blip r:embed="rId4">
            <a:duotone>
              <a:prstClr val="black"/>
              <a:schemeClr val="accent2">
                <a:tint val="45000"/>
                <a:satMod val="400000"/>
              </a:schemeClr>
            </a:duotone>
          </a:blip>
          <a:stretch>
            <a:fillRect/>
          </a:stretch>
        </p:blipFill>
        <p:spPr>
          <a:xfrm>
            <a:off x="6738988" y="1446095"/>
            <a:ext cx="4823878" cy="1867062"/>
          </a:xfrm>
          <a:prstGeom prst="rect">
            <a:avLst/>
          </a:prstGeom>
        </p:spPr>
      </p:pic>
      <p:pic>
        <p:nvPicPr>
          <p:cNvPr id="7" name="Picture 6">
            <a:extLst>
              <a:ext uri="{FF2B5EF4-FFF2-40B4-BE49-F238E27FC236}">
                <a16:creationId xmlns:a16="http://schemas.microsoft.com/office/drawing/2014/main" id="{C0C2BEEF-A689-776F-B5FC-8160F285BE8B}"/>
              </a:ext>
            </a:extLst>
          </p:cNvPr>
          <p:cNvPicPr>
            <a:picLocks noChangeAspect="1"/>
          </p:cNvPicPr>
          <p:nvPr/>
        </p:nvPicPr>
        <p:blipFill>
          <a:blip r:embed="rId5"/>
          <a:stretch>
            <a:fillRect/>
          </a:stretch>
        </p:blipFill>
        <p:spPr>
          <a:xfrm>
            <a:off x="6541562" y="3313157"/>
            <a:ext cx="5043055" cy="2946799"/>
          </a:xfrm>
          <a:prstGeom prst="rect">
            <a:avLst/>
          </a:prstGeom>
        </p:spPr>
      </p:pic>
      <p:sp>
        <p:nvSpPr>
          <p:cNvPr id="8" name="TextBox 7">
            <a:extLst>
              <a:ext uri="{FF2B5EF4-FFF2-40B4-BE49-F238E27FC236}">
                <a16:creationId xmlns:a16="http://schemas.microsoft.com/office/drawing/2014/main" id="{27C43F85-898D-1328-9EDF-DA7F9129F1F2}"/>
              </a:ext>
            </a:extLst>
          </p:cNvPr>
          <p:cNvSpPr txBox="1"/>
          <p:nvPr/>
        </p:nvSpPr>
        <p:spPr>
          <a:xfrm>
            <a:off x="93524" y="884641"/>
            <a:ext cx="5556916" cy="369332"/>
          </a:xfrm>
          <a:prstGeom prst="rect">
            <a:avLst/>
          </a:prstGeom>
          <a:solidFill>
            <a:schemeClr val="accent6">
              <a:lumMod val="75000"/>
            </a:schemeClr>
          </a:solidFill>
        </p:spPr>
        <p:txBody>
          <a:bodyPr wrap="square" rtlCol="0">
            <a:spAutoFit/>
          </a:bodyPr>
          <a:lstStyle/>
          <a:p>
            <a:r>
              <a:rPr lang="en-US"/>
              <a:t>Logistic Regression Confusion Matrix</a:t>
            </a:r>
            <a:endParaRPr lang="en-IN"/>
          </a:p>
        </p:txBody>
      </p:sp>
      <p:sp>
        <p:nvSpPr>
          <p:cNvPr id="9" name="TextBox 8">
            <a:extLst>
              <a:ext uri="{FF2B5EF4-FFF2-40B4-BE49-F238E27FC236}">
                <a16:creationId xmlns:a16="http://schemas.microsoft.com/office/drawing/2014/main" id="{0D58319A-6BB3-A32A-E9B8-FE5C18579560}"/>
              </a:ext>
            </a:extLst>
          </p:cNvPr>
          <p:cNvSpPr txBox="1"/>
          <p:nvPr/>
        </p:nvSpPr>
        <p:spPr>
          <a:xfrm>
            <a:off x="6738988" y="884641"/>
            <a:ext cx="4823877" cy="369332"/>
          </a:xfrm>
          <a:prstGeom prst="rect">
            <a:avLst/>
          </a:prstGeom>
          <a:solidFill>
            <a:schemeClr val="accent6">
              <a:lumMod val="75000"/>
            </a:schemeClr>
          </a:solidFill>
        </p:spPr>
        <p:txBody>
          <a:bodyPr wrap="square" rtlCol="0">
            <a:spAutoFit/>
          </a:bodyPr>
          <a:lstStyle/>
          <a:p>
            <a:r>
              <a:rPr lang="en-US"/>
              <a:t>Logistic Regression ROC Curve</a:t>
            </a:r>
            <a:endParaRPr lang="en-IN"/>
          </a:p>
        </p:txBody>
      </p:sp>
    </p:spTree>
    <p:extLst>
      <p:ext uri="{BB962C8B-B14F-4D97-AF65-F5344CB8AC3E}">
        <p14:creationId xmlns:p14="http://schemas.microsoft.com/office/powerpoint/2010/main" val="3481535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6FA046-37E9-140F-302B-6509FD76835D}"/>
              </a:ext>
            </a:extLst>
          </p:cNvPr>
          <p:cNvSpPr txBox="1"/>
          <p:nvPr/>
        </p:nvSpPr>
        <p:spPr>
          <a:xfrm>
            <a:off x="168852" y="293316"/>
            <a:ext cx="4860348" cy="369332"/>
          </a:xfrm>
          <a:prstGeom prst="rect">
            <a:avLst/>
          </a:prstGeom>
          <a:solidFill>
            <a:schemeClr val="accent6">
              <a:lumMod val="75000"/>
            </a:schemeClr>
          </a:solidFill>
        </p:spPr>
        <p:txBody>
          <a:bodyPr wrap="square">
            <a:spAutoFit/>
          </a:bodyPr>
          <a:lstStyle/>
          <a:p>
            <a:r>
              <a:rPr lang="en-IN"/>
              <a:t>Decision Tree Classifier</a:t>
            </a:r>
          </a:p>
        </p:txBody>
      </p:sp>
      <p:pic>
        <p:nvPicPr>
          <p:cNvPr id="5" name="Picture 4">
            <a:extLst>
              <a:ext uri="{FF2B5EF4-FFF2-40B4-BE49-F238E27FC236}">
                <a16:creationId xmlns:a16="http://schemas.microsoft.com/office/drawing/2014/main" id="{70614D24-A94E-B25B-9810-F88605C79C62}"/>
              </a:ext>
            </a:extLst>
          </p:cNvPr>
          <p:cNvPicPr>
            <a:picLocks noChangeAspect="1"/>
          </p:cNvPicPr>
          <p:nvPr/>
        </p:nvPicPr>
        <p:blipFill>
          <a:blip r:embed="rId2">
            <a:duotone>
              <a:prstClr val="black"/>
              <a:schemeClr val="accent4">
                <a:tint val="45000"/>
                <a:satMod val="400000"/>
              </a:schemeClr>
            </a:duotone>
          </a:blip>
          <a:stretch>
            <a:fillRect/>
          </a:stretch>
        </p:blipFill>
        <p:spPr>
          <a:xfrm>
            <a:off x="168851" y="754996"/>
            <a:ext cx="4860347" cy="1832340"/>
          </a:xfrm>
          <a:prstGeom prst="rect">
            <a:avLst/>
          </a:prstGeom>
        </p:spPr>
      </p:pic>
      <p:sp>
        <p:nvSpPr>
          <p:cNvPr id="7" name="TextBox 6">
            <a:extLst>
              <a:ext uri="{FF2B5EF4-FFF2-40B4-BE49-F238E27FC236}">
                <a16:creationId xmlns:a16="http://schemas.microsoft.com/office/drawing/2014/main" id="{989215AC-ED10-FF66-2E77-7DE2544C8BDB}"/>
              </a:ext>
            </a:extLst>
          </p:cNvPr>
          <p:cNvSpPr txBox="1"/>
          <p:nvPr/>
        </p:nvSpPr>
        <p:spPr>
          <a:xfrm>
            <a:off x="168851" y="2723618"/>
            <a:ext cx="4860347" cy="369332"/>
          </a:xfrm>
          <a:prstGeom prst="rect">
            <a:avLst/>
          </a:prstGeom>
          <a:solidFill>
            <a:schemeClr val="tx1">
              <a:lumMod val="50000"/>
              <a:lumOff val="50000"/>
            </a:schemeClr>
          </a:solidFill>
        </p:spPr>
        <p:txBody>
          <a:bodyPr wrap="square">
            <a:spAutoFit/>
          </a:bodyPr>
          <a:lstStyle/>
          <a:p>
            <a:r>
              <a:rPr lang="en-US"/>
              <a:t>Decision tree gives very low score.</a:t>
            </a:r>
            <a:endParaRPr lang="en-IN"/>
          </a:p>
        </p:txBody>
      </p:sp>
      <p:pic>
        <p:nvPicPr>
          <p:cNvPr id="9" name="Picture 8">
            <a:extLst>
              <a:ext uri="{FF2B5EF4-FFF2-40B4-BE49-F238E27FC236}">
                <a16:creationId xmlns:a16="http://schemas.microsoft.com/office/drawing/2014/main" id="{8A7052F4-D2C5-8F76-C1DE-4027BF05420E}"/>
              </a:ext>
            </a:extLst>
          </p:cNvPr>
          <p:cNvPicPr>
            <a:picLocks noChangeAspect="1"/>
          </p:cNvPicPr>
          <p:nvPr/>
        </p:nvPicPr>
        <p:blipFill>
          <a:blip r:embed="rId3">
            <a:duotone>
              <a:prstClr val="black"/>
              <a:schemeClr val="accent4">
                <a:tint val="45000"/>
                <a:satMod val="400000"/>
              </a:schemeClr>
            </a:duotone>
          </a:blip>
          <a:stretch>
            <a:fillRect/>
          </a:stretch>
        </p:blipFill>
        <p:spPr>
          <a:xfrm>
            <a:off x="168850" y="3229232"/>
            <a:ext cx="4860347" cy="2277950"/>
          </a:xfrm>
          <a:prstGeom prst="rect">
            <a:avLst/>
          </a:prstGeom>
        </p:spPr>
      </p:pic>
      <p:sp>
        <p:nvSpPr>
          <p:cNvPr id="11" name="TextBox 10">
            <a:extLst>
              <a:ext uri="{FF2B5EF4-FFF2-40B4-BE49-F238E27FC236}">
                <a16:creationId xmlns:a16="http://schemas.microsoft.com/office/drawing/2014/main" id="{D51DBF37-147A-BD70-B24B-A5B30BF9B099}"/>
              </a:ext>
            </a:extLst>
          </p:cNvPr>
          <p:cNvSpPr txBox="1"/>
          <p:nvPr/>
        </p:nvSpPr>
        <p:spPr>
          <a:xfrm>
            <a:off x="6097732" y="293316"/>
            <a:ext cx="4860348" cy="369332"/>
          </a:xfrm>
          <a:prstGeom prst="rect">
            <a:avLst/>
          </a:prstGeom>
          <a:solidFill>
            <a:schemeClr val="accent6">
              <a:lumMod val="75000"/>
            </a:schemeClr>
          </a:solidFill>
        </p:spPr>
        <p:txBody>
          <a:bodyPr wrap="square">
            <a:spAutoFit/>
          </a:bodyPr>
          <a:lstStyle/>
          <a:p>
            <a:r>
              <a:rPr lang="en-IN"/>
              <a:t>AdaBoost Classifier</a:t>
            </a:r>
          </a:p>
        </p:txBody>
      </p:sp>
      <p:pic>
        <p:nvPicPr>
          <p:cNvPr id="13" name="Picture 12">
            <a:extLst>
              <a:ext uri="{FF2B5EF4-FFF2-40B4-BE49-F238E27FC236}">
                <a16:creationId xmlns:a16="http://schemas.microsoft.com/office/drawing/2014/main" id="{785B171D-E5E4-84E5-851D-CBF82D661682}"/>
              </a:ext>
            </a:extLst>
          </p:cNvPr>
          <p:cNvPicPr>
            <a:picLocks noChangeAspect="1"/>
          </p:cNvPicPr>
          <p:nvPr/>
        </p:nvPicPr>
        <p:blipFill>
          <a:blip r:embed="rId4">
            <a:duotone>
              <a:prstClr val="black"/>
              <a:schemeClr val="accent2">
                <a:tint val="45000"/>
                <a:satMod val="400000"/>
              </a:schemeClr>
            </a:duotone>
          </a:blip>
          <a:stretch>
            <a:fillRect/>
          </a:stretch>
        </p:blipFill>
        <p:spPr>
          <a:xfrm>
            <a:off x="6203580" y="754997"/>
            <a:ext cx="4754500" cy="1832340"/>
          </a:xfrm>
          <a:prstGeom prst="rect">
            <a:avLst/>
          </a:prstGeom>
        </p:spPr>
      </p:pic>
      <p:pic>
        <p:nvPicPr>
          <p:cNvPr id="15" name="Picture 14">
            <a:extLst>
              <a:ext uri="{FF2B5EF4-FFF2-40B4-BE49-F238E27FC236}">
                <a16:creationId xmlns:a16="http://schemas.microsoft.com/office/drawing/2014/main" id="{E38374BE-F2DE-CCCB-5E5D-C7F2EF0401B2}"/>
              </a:ext>
            </a:extLst>
          </p:cNvPr>
          <p:cNvPicPr>
            <a:picLocks noChangeAspect="1"/>
          </p:cNvPicPr>
          <p:nvPr/>
        </p:nvPicPr>
        <p:blipFill>
          <a:blip r:embed="rId5">
            <a:duotone>
              <a:prstClr val="black"/>
              <a:schemeClr val="accent2">
                <a:tint val="45000"/>
                <a:satMod val="400000"/>
              </a:schemeClr>
            </a:duotone>
          </a:blip>
          <a:stretch>
            <a:fillRect/>
          </a:stretch>
        </p:blipFill>
        <p:spPr>
          <a:xfrm>
            <a:off x="6096000" y="3092950"/>
            <a:ext cx="4860346" cy="2507197"/>
          </a:xfrm>
          <a:prstGeom prst="rect">
            <a:avLst/>
          </a:prstGeom>
        </p:spPr>
      </p:pic>
    </p:spTree>
    <p:extLst>
      <p:ext uri="{BB962C8B-B14F-4D97-AF65-F5344CB8AC3E}">
        <p14:creationId xmlns:p14="http://schemas.microsoft.com/office/powerpoint/2010/main" val="18837232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DE899A-EB38-6841-D9B4-BD1BBE7F5B75}"/>
              </a:ext>
            </a:extLst>
          </p:cNvPr>
          <p:cNvSpPr txBox="1"/>
          <p:nvPr/>
        </p:nvSpPr>
        <p:spPr>
          <a:xfrm>
            <a:off x="249381" y="228600"/>
            <a:ext cx="5189670" cy="369332"/>
          </a:xfrm>
          <a:prstGeom prst="rect">
            <a:avLst/>
          </a:prstGeom>
          <a:solidFill>
            <a:schemeClr val="accent6">
              <a:lumMod val="75000"/>
            </a:schemeClr>
          </a:solidFill>
        </p:spPr>
        <p:txBody>
          <a:bodyPr wrap="square" rtlCol="0">
            <a:spAutoFit/>
          </a:bodyPr>
          <a:lstStyle/>
          <a:p>
            <a:r>
              <a:rPr lang="en-US"/>
              <a:t>Adaboost Classifier Confusion Matrix</a:t>
            </a:r>
            <a:endParaRPr lang="en-IN"/>
          </a:p>
        </p:txBody>
      </p:sp>
      <p:pic>
        <p:nvPicPr>
          <p:cNvPr id="4" name="Picture 3">
            <a:extLst>
              <a:ext uri="{FF2B5EF4-FFF2-40B4-BE49-F238E27FC236}">
                <a16:creationId xmlns:a16="http://schemas.microsoft.com/office/drawing/2014/main" id="{89C246C3-8D02-E454-1BC5-3DBDC64AB13F}"/>
              </a:ext>
            </a:extLst>
          </p:cNvPr>
          <p:cNvPicPr>
            <a:picLocks noChangeAspect="1"/>
          </p:cNvPicPr>
          <p:nvPr/>
        </p:nvPicPr>
        <p:blipFill>
          <a:blip r:embed="rId2">
            <a:duotone>
              <a:prstClr val="black"/>
              <a:schemeClr val="accent4">
                <a:tint val="45000"/>
                <a:satMod val="400000"/>
              </a:schemeClr>
            </a:duotone>
          </a:blip>
          <a:stretch>
            <a:fillRect/>
          </a:stretch>
        </p:blipFill>
        <p:spPr>
          <a:xfrm>
            <a:off x="249381" y="797789"/>
            <a:ext cx="5189670" cy="1415475"/>
          </a:xfrm>
          <a:prstGeom prst="rect">
            <a:avLst/>
          </a:prstGeom>
        </p:spPr>
      </p:pic>
      <p:pic>
        <p:nvPicPr>
          <p:cNvPr id="5" name="Picture 4">
            <a:extLst>
              <a:ext uri="{FF2B5EF4-FFF2-40B4-BE49-F238E27FC236}">
                <a16:creationId xmlns:a16="http://schemas.microsoft.com/office/drawing/2014/main" id="{705B6DEB-6C65-B2D3-CB64-E44F599DF709}"/>
              </a:ext>
            </a:extLst>
          </p:cNvPr>
          <p:cNvPicPr>
            <a:picLocks noChangeAspect="1"/>
          </p:cNvPicPr>
          <p:nvPr/>
        </p:nvPicPr>
        <p:blipFill>
          <a:blip r:embed="rId3"/>
          <a:stretch>
            <a:fillRect/>
          </a:stretch>
        </p:blipFill>
        <p:spPr>
          <a:xfrm>
            <a:off x="249381" y="2213265"/>
            <a:ext cx="5189670" cy="2358736"/>
          </a:xfrm>
          <a:prstGeom prst="rect">
            <a:avLst/>
          </a:prstGeom>
        </p:spPr>
      </p:pic>
      <p:sp>
        <p:nvSpPr>
          <p:cNvPr id="7" name="TextBox 6">
            <a:extLst>
              <a:ext uri="{FF2B5EF4-FFF2-40B4-BE49-F238E27FC236}">
                <a16:creationId xmlns:a16="http://schemas.microsoft.com/office/drawing/2014/main" id="{D499B351-70E9-4A4A-2F74-4B384B540C52}"/>
              </a:ext>
            </a:extLst>
          </p:cNvPr>
          <p:cNvSpPr txBox="1"/>
          <p:nvPr/>
        </p:nvSpPr>
        <p:spPr>
          <a:xfrm>
            <a:off x="6096000" y="265423"/>
            <a:ext cx="5677392" cy="369332"/>
          </a:xfrm>
          <a:prstGeom prst="rect">
            <a:avLst/>
          </a:prstGeom>
          <a:solidFill>
            <a:schemeClr val="accent6">
              <a:lumMod val="75000"/>
            </a:schemeClr>
          </a:solidFill>
        </p:spPr>
        <p:txBody>
          <a:bodyPr wrap="square">
            <a:spAutoFit/>
          </a:bodyPr>
          <a:lstStyle/>
          <a:p>
            <a:r>
              <a:rPr lang="en-IN"/>
              <a:t>Gradient Boosting Classifier</a:t>
            </a:r>
          </a:p>
        </p:txBody>
      </p:sp>
      <p:pic>
        <p:nvPicPr>
          <p:cNvPr id="9" name="Picture 8">
            <a:extLst>
              <a:ext uri="{FF2B5EF4-FFF2-40B4-BE49-F238E27FC236}">
                <a16:creationId xmlns:a16="http://schemas.microsoft.com/office/drawing/2014/main" id="{39ED9EF6-0239-DFEF-A40A-699400C41672}"/>
              </a:ext>
            </a:extLst>
          </p:cNvPr>
          <p:cNvPicPr>
            <a:picLocks noChangeAspect="1"/>
          </p:cNvPicPr>
          <p:nvPr/>
        </p:nvPicPr>
        <p:blipFill>
          <a:blip r:embed="rId4">
            <a:duotone>
              <a:prstClr val="black"/>
              <a:schemeClr val="accent2">
                <a:tint val="45000"/>
                <a:satMod val="400000"/>
              </a:schemeClr>
            </a:duotone>
          </a:blip>
          <a:stretch>
            <a:fillRect/>
          </a:stretch>
        </p:blipFill>
        <p:spPr>
          <a:xfrm>
            <a:off x="6096000" y="802331"/>
            <a:ext cx="5677392" cy="3769669"/>
          </a:xfrm>
          <a:prstGeom prst="rect">
            <a:avLst/>
          </a:prstGeom>
        </p:spPr>
      </p:pic>
      <p:pic>
        <p:nvPicPr>
          <p:cNvPr id="11" name="Picture 10">
            <a:extLst>
              <a:ext uri="{FF2B5EF4-FFF2-40B4-BE49-F238E27FC236}">
                <a16:creationId xmlns:a16="http://schemas.microsoft.com/office/drawing/2014/main" id="{83C92C55-97B0-F4B3-E3A4-1458E39EA398}"/>
              </a:ext>
            </a:extLst>
          </p:cNvPr>
          <p:cNvPicPr>
            <a:picLocks noChangeAspect="1"/>
          </p:cNvPicPr>
          <p:nvPr/>
        </p:nvPicPr>
        <p:blipFill>
          <a:blip r:embed="rId5">
            <a:duotone>
              <a:prstClr val="black"/>
              <a:schemeClr val="accent2">
                <a:tint val="45000"/>
                <a:satMod val="400000"/>
              </a:schemeClr>
            </a:duotone>
          </a:blip>
          <a:stretch>
            <a:fillRect/>
          </a:stretch>
        </p:blipFill>
        <p:spPr>
          <a:xfrm>
            <a:off x="249381" y="5001779"/>
            <a:ext cx="5745978" cy="1364098"/>
          </a:xfrm>
          <a:prstGeom prst="rect">
            <a:avLst/>
          </a:prstGeom>
        </p:spPr>
      </p:pic>
      <p:pic>
        <p:nvPicPr>
          <p:cNvPr id="12" name="Picture 11">
            <a:extLst>
              <a:ext uri="{FF2B5EF4-FFF2-40B4-BE49-F238E27FC236}">
                <a16:creationId xmlns:a16="http://schemas.microsoft.com/office/drawing/2014/main" id="{69A8CEC7-3E06-734A-45B6-9505326F342F}"/>
              </a:ext>
            </a:extLst>
          </p:cNvPr>
          <p:cNvPicPr>
            <a:picLocks noChangeAspect="1"/>
          </p:cNvPicPr>
          <p:nvPr/>
        </p:nvPicPr>
        <p:blipFill>
          <a:blip r:embed="rId6"/>
          <a:stretch>
            <a:fillRect/>
          </a:stretch>
        </p:blipFill>
        <p:spPr>
          <a:xfrm>
            <a:off x="6196643" y="4739576"/>
            <a:ext cx="4900848" cy="2118424"/>
          </a:xfrm>
          <a:prstGeom prst="rect">
            <a:avLst/>
          </a:prstGeom>
        </p:spPr>
      </p:pic>
    </p:spTree>
    <p:extLst>
      <p:ext uri="{BB962C8B-B14F-4D97-AF65-F5344CB8AC3E}">
        <p14:creationId xmlns:p14="http://schemas.microsoft.com/office/powerpoint/2010/main" val="37401997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82DBDE-F004-982F-B5FD-94794CF71573}"/>
              </a:ext>
            </a:extLst>
          </p:cNvPr>
          <p:cNvSpPr txBox="1"/>
          <p:nvPr/>
        </p:nvSpPr>
        <p:spPr>
          <a:xfrm>
            <a:off x="137679" y="89053"/>
            <a:ext cx="11308014" cy="800219"/>
          </a:xfrm>
          <a:prstGeom prst="rect">
            <a:avLst/>
          </a:prstGeom>
          <a:solidFill>
            <a:schemeClr val="accent6">
              <a:lumMod val="60000"/>
              <a:lumOff val="40000"/>
            </a:schemeClr>
          </a:solidFill>
        </p:spPr>
        <p:txBody>
          <a:bodyPr wrap="square">
            <a:spAutoFit/>
          </a:bodyPr>
          <a:lstStyle/>
          <a:p>
            <a:r>
              <a:rPr lang="en-US" sz="2800"/>
              <a:t>Voting Classifier :</a:t>
            </a:r>
          </a:p>
          <a:p>
            <a:r>
              <a:rPr lang="en-US"/>
              <a:t>Let's now predict the final model based on the highest majority of voting and check it's score.</a:t>
            </a:r>
            <a:endParaRPr lang="en-IN"/>
          </a:p>
        </p:txBody>
      </p:sp>
      <p:pic>
        <p:nvPicPr>
          <p:cNvPr id="5" name="Picture 4">
            <a:extLst>
              <a:ext uri="{FF2B5EF4-FFF2-40B4-BE49-F238E27FC236}">
                <a16:creationId xmlns:a16="http://schemas.microsoft.com/office/drawing/2014/main" id="{C02B16C8-D88E-150B-B39F-B1BC95BC21DB}"/>
              </a:ext>
            </a:extLst>
          </p:cNvPr>
          <p:cNvPicPr>
            <a:picLocks noChangeAspect="1"/>
          </p:cNvPicPr>
          <p:nvPr/>
        </p:nvPicPr>
        <p:blipFill>
          <a:blip r:embed="rId2">
            <a:duotone>
              <a:prstClr val="black"/>
              <a:schemeClr val="accent4">
                <a:tint val="45000"/>
                <a:satMod val="400000"/>
              </a:schemeClr>
            </a:duotone>
          </a:blip>
          <a:stretch>
            <a:fillRect/>
          </a:stretch>
        </p:blipFill>
        <p:spPr>
          <a:xfrm>
            <a:off x="137678" y="889272"/>
            <a:ext cx="5805921" cy="3124471"/>
          </a:xfrm>
          <a:prstGeom prst="rect">
            <a:avLst/>
          </a:prstGeom>
        </p:spPr>
      </p:pic>
      <p:pic>
        <p:nvPicPr>
          <p:cNvPr id="7" name="Picture 6">
            <a:extLst>
              <a:ext uri="{FF2B5EF4-FFF2-40B4-BE49-F238E27FC236}">
                <a16:creationId xmlns:a16="http://schemas.microsoft.com/office/drawing/2014/main" id="{FA0EE1F5-D41B-A3AB-2FFA-3C5D63FF72CF}"/>
              </a:ext>
            </a:extLst>
          </p:cNvPr>
          <p:cNvPicPr>
            <a:picLocks noChangeAspect="1"/>
          </p:cNvPicPr>
          <p:nvPr/>
        </p:nvPicPr>
        <p:blipFill>
          <a:blip r:embed="rId3">
            <a:duotone>
              <a:prstClr val="black"/>
              <a:schemeClr val="accent4">
                <a:tint val="45000"/>
                <a:satMod val="400000"/>
              </a:schemeClr>
            </a:duotone>
          </a:blip>
          <a:stretch>
            <a:fillRect/>
          </a:stretch>
        </p:blipFill>
        <p:spPr>
          <a:xfrm>
            <a:off x="137677" y="4013743"/>
            <a:ext cx="5805921" cy="2530059"/>
          </a:xfrm>
          <a:prstGeom prst="rect">
            <a:avLst/>
          </a:prstGeom>
        </p:spPr>
      </p:pic>
      <p:pic>
        <p:nvPicPr>
          <p:cNvPr id="9" name="Picture 8">
            <a:extLst>
              <a:ext uri="{FF2B5EF4-FFF2-40B4-BE49-F238E27FC236}">
                <a16:creationId xmlns:a16="http://schemas.microsoft.com/office/drawing/2014/main" id="{FD3DF79B-43A7-0425-ED0E-99A3481578AC}"/>
              </a:ext>
            </a:extLst>
          </p:cNvPr>
          <p:cNvPicPr>
            <a:picLocks noChangeAspect="1"/>
          </p:cNvPicPr>
          <p:nvPr/>
        </p:nvPicPr>
        <p:blipFill>
          <a:blip r:embed="rId4">
            <a:duotone>
              <a:prstClr val="black"/>
              <a:schemeClr val="accent2">
                <a:tint val="45000"/>
                <a:satMod val="400000"/>
              </a:schemeClr>
            </a:duotone>
          </a:blip>
          <a:stretch>
            <a:fillRect/>
          </a:stretch>
        </p:blipFill>
        <p:spPr>
          <a:xfrm>
            <a:off x="6248403" y="889272"/>
            <a:ext cx="5197290" cy="1791583"/>
          </a:xfrm>
          <a:prstGeom prst="rect">
            <a:avLst/>
          </a:prstGeom>
        </p:spPr>
      </p:pic>
      <p:pic>
        <p:nvPicPr>
          <p:cNvPr id="10" name="Picture 9">
            <a:extLst>
              <a:ext uri="{FF2B5EF4-FFF2-40B4-BE49-F238E27FC236}">
                <a16:creationId xmlns:a16="http://schemas.microsoft.com/office/drawing/2014/main" id="{767DFDF5-6B51-2321-D8FD-2321DAB36242}"/>
              </a:ext>
            </a:extLst>
          </p:cNvPr>
          <p:cNvPicPr>
            <a:picLocks noChangeAspect="1"/>
          </p:cNvPicPr>
          <p:nvPr/>
        </p:nvPicPr>
        <p:blipFill>
          <a:blip r:embed="rId5"/>
          <a:stretch>
            <a:fillRect/>
          </a:stretch>
        </p:blipFill>
        <p:spPr>
          <a:xfrm>
            <a:off x="6248403" y="3167495"/>
            <a:ext cx="5197289" cy="3243695"/>
          </a:xfrm>
          <a:prstGeom prst="rect">
            <a:avLst/>
          </a:prstGeom>
        </p:spPr>
      </p:pic>
    </p:spTree>
    <p:extLst>
      <p:ext uri="{BB962C8B-B14F-4D97-AF65-F5344CB8AC3E}">
        <p14:creationId xmlns:p14="http://schemas.microsoft.com/office/powerpoint/2010/main" val="379209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75E22D-43E2-F413-10C3-0B4E52617FCB}"/>
              </a:ext>
            </a:extLst>
          </p:cNvPr>
          <p:cNvPicPr>
            <a:picLocks noChangeAspect="1"/>
          </p:cNvPicPr>
          <p:nvPr/>
        </p:nvPicPr>
        <p:blipFill>
          <a:blip r:embed="rId2">
            <a:duotone>
              <a:prstClr val="black"/>
              <a:schemeClr val="accent5">
                <a:tint val="45000"/>
                <a:satMod val="400000"/>
              </a:schemeClr>
            </a:duotone>
          </a:blip>
          <a:stretch>
            <a:fillRect/>
          </a:stretch>
        </p:blipFill>
        <p:spPr>
          <a:xfrm>
            <a:off x="528565" y="1182944"/>
            <a:ext cx="10714399" cy="4492112"/>
          </a:xfrm>
          <a:prstGeom prst="rect">
            <a:avLst/>
          </a:prstGeom>
        </p:spPr>
      </p:pic>
    </p:spTree>
    <p:extLst>
      <p:ext uri="{BB962C8B-B14F-4D97-AF65-F5344CB8AC3E}">
        <p14:creationId xmlns:p14="http://schemas.microsoft.com/office/powerpoint/2010/main" val="29727288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6A3A36-B659-3D91-752E-FCD3ED4690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6330325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208</TotalTime>
  <Words>670</Words>
  <Application>Microsoft Office PowerPoint</Application>
  <PresentationFormat>Widescreen</PresentationFormat>
  <Paragraphs>53</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Algerian</vt:lpstr>
      <vt:lpstr>Arial</vt:lpstr>
      <vt:lpstr>Calibri</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SOUMYAJIT BEHERA</dc:creator>
  <cp:lastModifiedBy>SOUMYAJIT BEHERA</cp:lastModifiedBy>
  <cp:revision>2</cp:revision>
  <dcterms:created xsi:type="dcterms:W3CDTF">2023-01-25T03:42:20Z</dcterms:created>
  <dcterms:modified xsi:type="dcterms:W3CDTF">2023-01-25T10:36:25Z</dcterms:modified>
</cp:coreProperties>
</file>