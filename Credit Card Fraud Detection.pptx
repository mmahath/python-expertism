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D170FD-8ABC-4A4B-A1FA-7E1F6F3AD382}" v="44" dt="2023-01-25T10:31:50.3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104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33623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4075127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2806262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9517D4-4076-4811-89E3-8C6AE25C45DB}" type="datetimeFigureOut">
              <a:rPr lang="en-IN" smtClean="0"/>
              <a:t>25-01-2023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3768799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9517D4-4076-4811-89E3-8C6AE25C45DB}" type="datetimeFigureOut">
              <a:rPr lang="en-IN" smtClean="0"/>
              <a:t>25-01-2023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1857377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9517D4-4076-4811-89E3-8C6AE25C45DB}" type="datetimeFigureOut">
              <a:rPr lang="en-IN" smtClean="0"/>
              <a:t>25-01-2023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345610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9517D4-4076-4811-89E3-8C6AE25C45DB}" type="datetimeFigureOut">
              <a:rPr lang="en-IN" smtClean="0"/>
              <a:t>25-01-2023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479932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9517D4-4076-4811-89E3-8C6AE25C45DB}" type="datetimeFigureOut">
              <a:rPr lang="en-IN" smtClean="0"/>
              <a:t>25-01-2023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4050318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9517D4-4076-4811-89E3-8C6AE25C45DB}" type="datetimeFigureOut">
              <a:rPr lang="en-IN" smtClean="0"/>
              <a:t>25-01-2023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3491259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992482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80154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2744441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3279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23904842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2915760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9517D4-4076-4811-89E3-8C6AE25C45DB}"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22DDC7-362C-431F-9E24-B6535E0B37A4}" type="slidenum">
              <a:rPr lang="en-IN" smtClean="0"/>
              <a:t>‹#›</a:t>
            </a:fld>
            <a:endParaRPr lang="en-IN"/>
          </a:p>
        </p:txBody>
      </p:sp>
    </p:spTree>
    <p:extLst>
      <p:ext uri="{BB962C8B-B14F-4D97-AF65-F5344CB8AC3E}">
        <p14:creationId xmlns:p14="http://schemas.microsoft.com/office/powerpoint/2010/main" val="1994818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9517D4-4076-4811-89E3-8C6AE25C45DB}" type="datetimeFigureOut">
              <a:rPr lang="en-IN" smtClean="0"/>
              <a:t>25-01-2023</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F22DDC7-362C-431F-9E24-B6535E0B37A4}" type="slidenum">
              <a:rPr lang="en-IN" smtClean="0"/>
              <a:t>‹#›</a:t>
            </a:fld>
            <a:endParaRPr lang="en-IN"/>
          </a:p>
        </p:txBody>
      </p:sp>
    </p:spTree>
    <p:extLst>
      <p:ext uri="{BB962C8B-B14F-4D97-AF65-F5344CB8AC3E}">
        <p14:creationId xmlns:p14="http://schemas.microsoft.com/office/powerpoint/2010/main" val="12355855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34CA72-B3F6-38F6-40FE-F023231320DF}"/>
              </a:ext>
            </a:extLst>
          </p:cNvPr>
          <p:cNvPicPr>
            <a:picLocks noChangeAspect="1"/>
          </p:cNvPicPr>
          <p:nvPr/>
        </p:nvPicPr>
        <p:blipFill>
          <a:blip r:embed="rId2"/>
          <a:stretch>
            <a:fillRect/>
          </a:stretch>
        </p:blipFill>
        <p:spPr>
          <a:xfrm>
            <a:off x="339436" y="157596"/>
            <a:ext cx="11236037" cy="5037859"/>
          </a:xfrm>
          <a:prstGeom prst="rect">
            <a:avLst/>
          </a:prstGeom>
        </p:spPr>
      </p:pic>
      <p:sp>
        <p:nvSpPr>
          <p:cNvPr id="5" name="TextBox 4">
            <a:extLst>
              <a:ext uri="{FF2B5EF4-FFF2-40B4-BE49-F238E27FC236}">
                <a16:creationId xmlns:a16="http://schemas.microsoft.com/office/drawing/2014/main" id="{DED871AF-E627-53D2-2F12-3FC5536FB780}"/>
              </a:ext>
            </a:extLst>
          </p:cNvPr>
          <p:cNvSpPr txBox="1"/>
          <p:nvPr/>
        </p:nvSpPr>
        <p:spPr>
          <a:xfrm>
            <a:off x="339436" y="5288340"/>
            <a:ext cx="11236037" cy="1569660"/>
          </a:xfrm>
          <a:prstGeom prst="rect">
            <a:avLst/>
          </a:prstGeom>
          <a:solidFill>
            <a:schemeClr val="accent5">
              <a:lumMod val="50000"/>
            </a:schemeClr>
          </a:solidFill>
        </p:spPr>
        <p:txBody>
          <a:bodyPr wrap="square" rtlCol="0">
            <a:spAutoFit/>
          </a:bodyPr>
          <a:lstStyle/>
          <a:p>
            <a:r>
              <a:rPr lang="en-IN" sz="4800">
                <a:latin typeface="Algerian" panose="04020705040A02060702" pitchFamily="82" charset="0"/>
              </a:rPr>
              <a:t>CREDIT CARD FRAUD DETECTION</a:t>
            </a:r>
          </a:p>
          <a:p>
            <a:r>
              <a:rPr lang="en-IN" sz="4800">
                <a:latin typeface="Algerian" panose="04020705040A02060702" pitchFamily="82" charset="0"/>
              </a:rPr>
              <a:t>                                              </a:t>
            </a:r>
            <a:r>
              <a:rPr lang="en-IN" sz="3200">
                <a:latin typeface="Algerian" panose="04020705040A02060702" pitchFamily="82" charset="0"/>
              </a:rPr>
              <a:t>soumyajit beHERA</a:t>
            </a:r>
            <a:endParaRPr lang="en-IN" sz="4800">
              <a:latin typeface="Algerian" panose="04020705040A02060702" pitchFamily="82" charset="0"/>
            </a:endParaRPr>
          </a:p>
        </p:txBody>
      </p:sp>
    </p:spTree>
    <p:extLst>
      <p:ext uri="{BB962C8B-B14F-4D97-AF65-F5344CB8AC3E}">
        <p14:creationId xmlns:p14="http://schemas.microsoft.com/office/powerpoint/2010/main" val="260305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03BD95-5269-FC7C-CD8C-1C30D55AF750}"/>
              </a:ext>
            </a:extLst>
          </p:cNvPr>
          <p:cNvSpPr txBox="1"/>
          <p:nvPr/>
        </p:nvSpPr>
        <p:spPr>
          <a:xfrm>
            <a:off x="280555" y="335846"/>
            <a:ext cx="11118272" cy="3539430"/>
          </a:xfrm>
          <a:prstGeom prst="rect">
            <a:avLst/>
          </a:prstGeom>
          <a:solidFill>
            <a:schemeClr val="bg2">
              <a:lumMod val="90000"/>
            </a:schemeClr>
          </a:solidFill>
        </p:spPr>
        <p:txBody>
          <a:bodyPr wrap="square">
            <a:spAutoFit/>
          </a:bodyPr>
          <a:lstStyle/>
          <a:p>
            <a:r>
              <a:rPr lang="en-US" sz="2800">
                <a:highlight>
                  <a:srgbClr val="00FF00"/>
                </a:highlight>
              </a:rPr>
              <a:t>Common credit card fraud techniques :</a:t>
            </a:r>
          </a:p>
          <a:p>
            <a:r>
              <a:rPr lang="en-US" sz="1600"/>
              <a:t>Credit card fraud rose by a whopping 46% in 2021 when digital transactions became the norm. The US has been a significant contributor to this statistic. This means that the modi operandi of credit card fraudsters have also witnessed change. The various ways in which fraudsters can commit credit card fraud include:</a:t>
            </a:r>
          </a:p>
          <a:p>
            <a:endParaRPr lang="en-US"/>
          </a:p>
          <a:p>
            <a:r>
              <a:rPr lang="en-US" sz="1600">
                <a:highlight>
                  <a:srgbClr val="FFFF00"/>
                </a:highlight>
              </a:rPr>
              <a:t>1.Creating counterfeit credit cards using legitimate credit card information.</a:t>
            </a:r>
          </a:p>
          <a:p>
            <a:r>
              <a:rPr lang="en-US" sz="1600">
                <a:highlight>
                  <a:srgbClr val="FFFF00"/>
                </a:highlight>
              </a:rPr>
              <a:t>2.Creating and using new credit card accounts under someone else's name.</a:t>
            </a:r>
          </a:p>
          <a:p>
            <a:r>
              <a:rPr lang="en-US" sz="1600">
                <a:highlight>
                  <a:srgbClr val="FFFF00"/>
                </a:highlight>
              </a:rPr>
              <a:t>3.Stealing an existing credit card holder's account.</a:t>
            </a:r>
          </a:p>
          <a:p>
            <a:r>
              <a:rPr lang="en-US" sz="1600">
                <a:highlight>
                  <a:srgbClr val="FFFF00"/>
                </a:highlight>
              </a:rPr>
              <a:t>4.Skimming shoppers' credit cards while swiping and making fraudulent copies.</a:t>
            </a:r>
          </a:p>
          <a:p>
            <a:r>
              <a:rPr lang="en-US" sz="1600">
                <a:highlight>
                  <a:srgbClr val="FFFF00"/>
                </a:highlight>
              </a:rPr>
              <a:t>5.Manipulating the payer into making multiple credit card transactions against the same invoice/purchase.</a:t>
            </a:r>
          </a:p>
          <a:p>
            <a:r>
              <a:rPr lang="en-US" sz="1600">
                <a:highlight>
                  <a:srgbClr val="FFFF00"/>
                </a:highlight>
              </a:rPr>
              <a:t>6.Committing card not present (CNP) fraud, that is, making transactions without physical possession of the credit. 7.cards via phone or email.</a:t>
            </a:r>
          </a:p>
          <a:p>
            <a:r>
              <a:rPr lang="en-US" sz="1600">
                <a:highlight>
                  <a:srgbClr val="FFFF00"/>
                </a:highlight>
              </a:rPr>
              <a:t>8.Taking over cardholders' accounts via email phishing and deceptive text messages.</a:t>
            </a:r>
            <a:endParaRPr lang="en-IN" sz="1600">
              <a:highlight>
                <a:srgbClr val="FFFF00"/>
              </a:highlight>
            </a:endParaRPr>
          </a:p>
        </p:txBody>
      </p:sp>
      <p:sp>
        <p:nvSpPr>
          <p:cNvPr id="7" name="TextBox 6">
            <a:extLst>
              <a:ext uri="{FF2B5EF4-FFF2-40B4-BE49-F238E27FC236}">
                <a16:creationId xmlns:a16="http://schemas.microsoft.com/office/drawing/2014/main" id="{B2100389-8428-6A77-01C0-91455492D01A}"/>
              </a:ext>
            </a:extLst>
          </p:cNvPr>
          <p:cNvSpPr txBox="1"/>
          <p:nvPr/>
        </p:nvSpPr>
        <p:spPr>
          <a:xfrm>
            <a:off x="280555" y="3875276"/>
            <a:ext cx="11118272" cy="3016210"/>
          </a:xfrm>
          <a:prstGeom prst="rect">
            <a:avLst/>
          </a:prstGeom>
          <a:noFill/>
        </p:spPr>
        <p:txBody>
          <a:bodyPr wrap="square">
            <a:spAutoFit/>
          </a:bodyPr>
          <a:lstStyle/>
          <a:p>
            <a:r>
              <a:rPr lang="en-US" sz="2800">
                <a:highlight>
                  <a:srgbClr val="00FF00"/>
                </a:highlight>
              </a:rPr>
              <a:t>How can machine learning help with credit card fraud detection?</a:t>
            </a:r>
          </a:p>
          <a:p>
            <a:r>
              <a:rPr lang="en-US" sz="1600"/>
              <a:t>Machine learning models can recognise unusual credit card transactions and fraud. The first and foremost step involves collecting and sorting raw data, which is then used to train the model to predict the probability of fraud[2]. The solutions offered by machine learning for credit card fraudulent detection involve:</a:t>
            </a:r>
          </a:p>
          <a:p>
            <a:endParaRPr lang="en-US"/>
          </a:p>
          <a:p>
            <a:r>
              <a:rPr lang="en-US" sz="1600">
                <a:highlight>
                  <a:srgbClr val="FFFF00"/>
                </a:highlight>
              </a:rPr>
              <a:t>1.Classifying whether credit card transactions are authentic or fraudulent using algorithms such as logistic regression, random forests, support vector machines (SVMs), deep neural networks along with autoencoders, long short-term memory (LSTM) networks, and convolutional neural networks (CNNs).</a:t>
            </a:r>
          </a:p>
          <a:p>
            <a:r>
              <a:rPr lang="en-US" sz="1600">
                <a:highlight>
                  <a:srgbClr val="FFFF00"/>
                </a:highlight>
              </a:rPr>
              <a:t>2.Predicting whether it is the cardholders or the fraudsters using the credit cards through credit card profiling.</a:t>
            </a:r>
          </a:p>
          <a:p>
            <a:r>
              <a:rPr lang="en-US" sz="1600">
                <a:highlight>
                  <a:srgbClr val="FFFF00"/>
                </a:highlight>
              </a:rPr>
              <a:t>3.Using outlier detection methods to identify considerably different transactions (or 'outliers') from regular credit cards transactions to detect credit card fraud.</a:t>
            </a:r>
            <a:endParaRPr lang="en-IN" sz="1600">
              <a:highlight>
                <a:srgbClr val="FFFF00"/>
              </a:highlight>
            </a:endParaRPr>
          </a:p>
        </p:txBody>
      </p:sp>
    </p:spTree>
    <p:extLst>
      <p:ext uri="{BB962C8B-B14F-4D97-AF65-F5344CB8AC3E}">
        <p14:creationId xmlns:p14="http://schemas.microsoft.com/office/powerpoint/2010/main" val="167444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03EFCF-DCB5-2884-AC8B-0AF5547E7892}"/>
              </a:ext>
            </a:extLst>
          </p:cNvPr>
          <p:cNvPicPr>
            <a:picLocks noChangeAspect="1"/>
          </p:cNvPicPr>
          <p:nvPr/>
        </p:nvPicPr>
        <p:blipFill>
          <a:blip r:embed="rId2">
            <a:duotone>
              <a:prstClr val="black"/>
              <a:schemeClr val="accent6">
                <a:tint val="45000"/>
                <a:satMod val="400000"/>
              </a:schemeClr>
            </a:duotone>
          </a:blip>
          <a:stretch>
            <a:fillRect/>
          </a:stretch>
        </p:blipFill>
        <p:spPr>
          <a:xfrm>
            <a:off x="298665" y="219890"/>
            <a:ext cx="10705308" cy="1181202"/>
          </a:xfrm>
          <a:prstGeom prst="rect">
            <a:avLst/>
          </a:prstGeom>
        </p:spPr>
      </p:pic>
      <p:sp>
        <p:nvSpPr>
          <p:cNvPr id="7" name="TextBox 6">
            <a:extLst>
              <a:ext uri="{FF2B5EF4-FFF2-40B4-BE49-F238E27FC236}">
                <a16:creationId xmlns:a16="http://schemas.microsoft.com/office/drawing/2014/main" id="{DFEBDB17-2E76-5B00-8B6A-B300A989CABF}"/>
              </a:ext>
            </a:extLst>
          </p:cNvPr>
          <p:cNvSpPr txBox="1"/>
          <p:nvPr/>
        </p:nvSpPr>
        <p:spPr>
          <a:xfrm>
            <a:off x="298665" y="1401092"/>
            <a:ext cx="10705308" cy="369332"/>
          </a:xfrm>
          <a:prstGeom prst="rect">
            <a:avLst/>
          </a:prstGeom>
          <a:solidFill>
            <a:schemeClr val="bg2">
              <a:lumMod val="75000"/>
            </a:schemeClr>
          </a:solidFill>
        </p:spPr>
        <p:txBody>
          <a:bodyPr wrap="square">
            <a:spAutoFit/>
          </a:bodyPr>
          <a:lstStyle/>
          <a:p>
            <a:r>
              <a:rPr lang="en-US"/>
              <a:t>df = pd.read_csv(r"D:\DS_PROJECTS\Support_Vector_Machine\creditcard.csv")</a:t>
            </a:r>
            <a:endParaRPr lang="en-IN"/>
          </a:p>
        </p:txBody>
      </p:sp>
      <p:pic>
        <p:nvPicPr>
          <p:cNvPr id="9" name="Picture 8">
            <a:extLst>
              <a:ext uri="{FF2B5EF4-FFF2-40B4-BE49-F238E27FC236}">
                <a16:creationId xmlns:a16="http://schemas.microsoft.com/office/drawing/2014/main" id="{D8B248BA-8F4D-B338-EF5B-F3ACD93B15C4}"/>
              </a:ext>
            </a:extLst>
          </p:cNvPr>
          <p:cNvPicPr>
            <a:picLocks noChangeAspect="1"/>
          </p:cNvPicPr>
          <p:nvPr/>
        </p:nvPicPr>
        <p:blipFill>
          <a:blip r:embed="rId3"/>
          <a:stretch>
            <a:fillRect/>
          </a:stretch>
        </p:blipFill>
        <p:spPr>
          <a:xfrm>
            <a:off x="298665" y="1868874"/>
            <a:ext cx="10705308" cy="2392887"/>
          </a:xfrm>
          <a:prstGeom prst="rect">
            <a:avLst/>
          </a:prstGeom>
        </p:spPr>
      </p:pic>
      <p:pic>
        <p:nvPicPr>
          <p:cNvPr id="11" name="Picture 10">
            <a:extLst>
              <a:ext uri="{FF2B5EF4-FFF2-40B4-BE49-F238E27FC236}">
                <a16:creationId xmlns:a16="http://schemas.microsoft.com/office/drawing/2014/main" id="{3B2878AC-A3F6-D896-2235-C4D2885DB632}"/>
              </a:ext>
            </a:extLst>
          </p:cNvPr>
          <p:cNvPicPr>
            <a:picLocks noChangeAspect="1"/>
          </p:cNvPicPr>
          <p:nvPr/>
        </p:nvPicPr>
        <p:blipFill>
          <a:blip r:embed="rId4">
            <a:duotone>
              <a:prstClr val="black"/>
              <a:schemeClr val="accent4">
                <a:tint val="45000"/>
                <a:satMod val="400000"/>
              </a:schemeClr>
            </a:duotone>
          </a:blip>
          <a:stretch>
            <a:fillRect/>
          </a:stretch>
        </p:blipFill>
        <p:spPr>
          <a:xfrm>
            <a:off x="298665" y="4261761"/>
            <a:ext cx="5717671" cy="2596239"/>
          </a:xfrm>
          <a:prstGeom prst="rect">
            <a:avLst/>
          </a:prstGeom>
        </p:spPr>
      </p:pic>
    </p:spTree>
    <p:extLst>
      <p:ext uri="{BB962C8B-B14F-4D97-AF65-F5344CB8AC3E}">
        <p14:creationId xmlns:p14="http://schemas.microsoft.com/office/powerpoint/2010/main" val="184883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B780EE-8A9B-60A4-A03B-868A7D57CB54}"/>
              </a:ext>
            </a:extLst>
          </p:cNvPr>
          <p:cNvPicPr>
            <a:picLocks noChangeAspect="1"/>
          </p:cNvPicPr>
          <p:nvPr/>
        </p:nvPicPr>
        <p:blipFill>
          <a:blip r:embed="rId2">
            <a:duotone>
              <a:prstClr val="black"/>
              <a:schemeClr val="accent2">
                <a:tint val="45000"/>
                <a:satMod val="400000"/>
              </a:schemeClr>
            </a:duotone>
          </a:blip>
          <a:stretch>
            <a:fillRect/>
          </a:stretch>
        </p:blipFill>
        <p:spPr>
          <a:xfrm>
            <a:off x="315897" y="213649"/>
            <a:ext cx="9939930" cy="1318374"/>
          </a:xfrm>
          <a:prstGeom prst="rect">
            <a:avLst/>
          </a:prstGeom>
        </p:spPr>
      </p:pic>
      <p:pic>
        <p:nvPicPr>
          <p:cNvPr id="5" name="Picture 4">
            <a:extLst>
              <a:ext uri="{FF2B5EF4-FFF2-40B4-BE49-F238E27FC236}">
                <a16:creationId xmlns:a16="http://schemas.microsoft.com/office/drawing/2014/main" id="{A4549D93-1043-D985-6CCF-7A023F33A777}"/>
              </a:ext>
            </a:extLst>
          </p:cNvPr>
          <p:cNvPicPr>
            <a:picLocks noChangeAspect="1"/>
          </p:cNvPicPr>
          <p:nvPr/>
        </p:nvPicPr>
        <p:blipFill>
          <a:blip r:embed="rId3">
            <a:duotone>
              <a:prstClr val="black"/>
              <a:schemeClr val="accent3">
                <a:tint val="45000"/>
                <a:satMod val="400000"/>
              </a:schemeClr>
            </a:duotone>
          </a:blip>
          <a:stretch>
            <a:fillRect/>
          </a:stretch>
        </p:blipFill>
        <p:spPr>
          <a:xfrm>
            <a:off x="1485059" y="1736143"/>
            <a:ext cx="3444538" cy="4768566"/>
          </a:xfrm>
          <a:prstGeom prst="rect">
            <a:avLst/>
          </a:prstGeom>
        </p:spPr>
      </p:pic>
      <p:pic>
        <p:nvPicPr>
          <p:cNvPr id="7" name="Picture 6">
            <a:extLst>
              <a:ext uri="{FF2B5EF4-FFF2-40B4-BE49-F238E27FC236}">
                <a16:creationId xmlns:a16="http://schemas.microsoft.com/office/drawing/2014/main" id="{F2F95E66-7C03-8F61-14B7-C3B315B3763F}"/>
              </a:ext>
            </a:extLst>
          </p:cNvPr>
          <p:cNvPicPr>
            <a:picLocks noChangeAspect="1"/>
          </p:cNvPicPr>
          <p:nvPr/>
        </p:nvPicPr>
        <p:blipFill>
          <a:blip r:embed="rId4">
            <a:duotone>
              <a:prstClr val="black"/>
              <a:schemeClr val="accent3">
                <a:tint val="45000"/>
                <a:satMod val="400000"/>
              </a:schemeClr>
            </a:duotone>
          </a:blip>
          <a:stretch>
            <a:fillRect/>
          </a:stretch>
        </p:blipFill>
        <p:spPr>
          <a:xfrm>
            <a:off x="4929597" y="1736142"/>
            <a:ext cx="3330229" cy="4768565"/>
          </a:xfrm>
          <a:prstGeom prst="rect">
            <a:avLst/>
          </a:prstGeom>
        </p:spPr>
      </p:pic>
    </p:spTree>
    <p:extLst>
      <p:ext uri="{BB962C8B-B14F-4D97-AF65-F5344CB8AC3E}">
        <p14:creationId xmlns:p14="http://schemas.microsoft.com/office/powerpoint/2010/main" val="4163907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D0DED3-41AF-751F-4889-55301AF1B6D4}"/>
              </a:ext>
            </a:extLst>
          </p:cNvPr>
          <p:cNvPicPr>
            <a:picLocks noChangeAspect="1"/>
          </p:cNvPicPr>
          <p:nvPr/>
        </p:nvPicPr>
        <p:blipFill>
          <a:blip r:embed="rId2">
            <a:duotone>
              <a:prstClr val="black"/>
              <a:schemeClr val="tx2">
                <a:tint val="45000"/>
                <a:satMod val="400000"/>
              </a:schemeClr>
            </a:duotone>
          </a:blip>
          <a:stretch>
            <a:fillRect/>
          </a:stretch>
        </p:blipFill>
        <p:spPr>
          <a:xfrm>
            <a:off x="280115" y="286627"/>
            <a:ext cx="10547211" cy="3298237"/>
          </a:xfrm>
          <a:prstGeom prst="rect">
            <a:avLst/>
          </a:prstGeom>
        </p:spPr>
      </p:pic>
      <p:pic>
        <p:nvPicPr>
          <p:cNvPr id="7" name="Picture 6">
            <a:extLst>
              <a:ext uri="{FF2B5EF4-FFF2-40B4-BE49-F238E27FC236}">
                <a16:creationId xmlns:a16="http://schemas.microsoft.com/office/drawing/2014/main" id="{6D8EA603-D805-4851-D582-9D5C4D4B6669}"/>
              </a:ext>
            </a:extLst>
          </p:cNvPr>
          <p:cNvPicPr>
            <a:picLocks noChangeAspect="1"/>
          </p:cNvPicPr>
          <p:nvPr/>
        </p:nvPicPr>
        <p:blipFill>
          <a:blip r:embed="rId3">
            <a:duotone>
              <a:prstClr val="black"/>
              <a:schemeClr val="accent3">
                <a:tint val="45000"/>
                <a:satMod val="400000"/>
              </a:schemeClr>
            </a:duotone>
          </a:blip>
          <a:stretch>
            <a:fillRect/>
          </a:stretch>
        </p:blipFill>
        <p:spPr>
          <a:xfrm>
            <a:off x="280115" y="3606936"/>
            <a:ext cx="9175612" cy="2964437"/>
          </a:xfrm>
          <a:prstGeom prst="rect">
            <a:avLst/>
          </a:prstGeom>
        </p:spPr>
      </p:pic>
    </p:spTree>
    <p:extLst>
      <p:ext uri="{BB962C8B-B14F-4D97-AF65-F5344CB8AC3E}">
        <p14:creationId xmlns:p14="http://schemas.microsoft.com/office/powerpoint/2010/main" val="166667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C16A10-556B-8E8C-E987-54CC757B46A7}"/>
              </a:ext>
            </a:extLst>
          </p:cNvPr>
          <p:cNvSpPr txBox="1"/>
          <p:nvPr/>
        </p:nvSpPr>
        <p:spPr>
          <a:xfrm>
            <a:off x="220807" y="179017"/>
            <a:ext cx="10949420" cy="461665"/>
          </a:xfrm>
          <a:prstGeom prst="rect">
            <a:avLst/>
          </a:prstGeom>
          <a:solidFill>
            <a:schemeClr val="accent6">
              <a:lumMod val="75000"/>
            </a:schemeClr>
          </a:solidFill>
        </p:spPr>
        <p:txBody>
          <a:bodyPr wrap="square">
            <a:spAutoFit/>
          </a:bodyPr>
          <a:lstStyle/>
          <a:p>
            <a:r>
              <a:rPr lang="en-IN" sz="2400"/>
              <a:t>Countplot :</a:t>
            </a:r>
          </a:p>
        </p:txBody>
      </p:sp>
      <p:pic>
        <p:nvPicPr>
          <p:cNvPr id="5" name="Picture 4">
            <a:extLst>
              <a:ext uri="{FF2B5EF4-FFF2-40B4-BE49-F238E27FC236}">
                <a16:creationId xmlns:a16="http://schemas.microsoft.com/office/drawing/2014/main" id="{94E8E6BD-F521-E32E-0306-060506459738}"/>
              </a:ext>
            </a:extLst>
          </p:cNvPr>
          <p:cNvPicPr>
            <a:picLocks noChangeAspect="1"/>
          </p:cNvPicPr>
          <p:nvPr/>
        </p:nvPicPr>
        <p:blipFill>
          <a:blip r:embed="rId2">
            <a:duotone>
              <a:prstClr val="black"/>
              <a:schemeClr val="tx2">
                <a:tint val="45000"/>
                <a:satMod val="400000"/>
              </a:schemeClr>
            </a:duotone>
          </a:blip>
          <a:stretch>
            <a:fillRect/>
          </a:stretch>
        </p:blipFill>
        <p:spPr>
          <a:xfrm>
            <a:off x="220807" y="640682"/>
            <a:ext cx="10949419" cy="4357345"/>
          </a:xfrm>
          <a:prstGeom prst="rect">
            <a:avLst/>
          </a:prstGeom>
        </p:spPr>
      </p:pic>
      <p:pic>
        <p:nvPicPr>
          <p:cNvPr id="7" name="Picture 6">
            <a:extLst>
              <a:ext uri="{FF2B5EF4-FFF2-40B4-BE49-F238E27FC236}">
                <a16:creationId xmlns:a16="http://schemas.microsoft.com/office/drawing/2014/main" id="{7A12D2EC-340A-1380-7A13-2DBBBE9FDB20}"/>
              </a:ext>
            </a:extLst>
          </p:cNvPr>
          <p:cNvPicPr>
            <a:picLocks noChangeAspect="1"/>
          </p:cNvPicPr>
          <p:nvPr/>
        </p:nvPicPr>
        <p:blipFill>
          <a:blip r:embed="rId3">
            <a:duotone>
              <a:prstClr val="black"/>
              <a:schemeClr val="accent4">
                <a:tint val="45000"/>
                <a:satMod val="400000"/>
              </a:schemeClr>
            </a:duotone>
          </a:blip>
          <a:stretch>
            <a:fillRect/>
          </a:stretch>
        </p:blipFill>
        <p:spPr>
          <a:xfrm>
            <a:off x="220805" y="4998027"/>
            <a:ext cx="6200777" cy="1859973"/>
          </a:xfrm>
          <a:prstGeom prst="rect">
            <a:avLst/>
          </a:prstGeom>
        </p:spPr>
      </p:pic>
    </p:spTree>
    <p:extLst>
      <p:ext uri="{BB962C8B-B14F-4D97-AF65-F5344CB8AC3E}">
        <p14:creationId xmlns:p14="http://schemas.microsoft.com/office/powerpoint/2010/main" val="1530061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0C13BA-1653-726C-5D29-4E07C36CD1C7}"/>
              </a:ext>
            </a:extLst>
          </p:cNvPr>
          <p:cNvSpPr txBox="1"/>
          <p:nvPr/>
        </p:nvSpPr>
        <p:spPr>
          <a:xfrm>
            <a:off x="251980" y="230971"/>
            <a:ext cx="11313102" cy="461665"/>
          </a:xfrm>
          <a:prstGeom prst="rect">
            <a:avLst/>
          </a:prstGeom>
          <a:solidFill>
            <a:schemeClr val="accent6">
              <a:lumMod val="75000"/>
            </a:schemeClr>
          </a:solidFill>
        </p:spPr>
        <p:txBody>
          <a:bodyPr wrap="square">
            <a:spAutoFit/>
          </a:bodyPr>
          <a:lstStyle/>
          <a:p>
            <a:r>
              <a:rPr lang="en-US" sz="2400"/>
              <a:t>Correlation matrix and heat map :</a:t>
            </a:r>
            <a:endParaRPr lang="en-IN" sz="2400"/>
          </a:p>
        </p:txBody>
      </p:sp>
      <p:pic>
        <p:nvPicPr>
          <p:cNvPr id="5" name="Picture 4">
            <a:extLst>
              <a:ext uri="{FF2B5EF4-FFF2-40B4-BE49-F238E27FC236}">
                <a16:creationId xmlns:a16="http://schemas.microsoft.com/office/drawing/2014/main" id="{30C25C2B-7485-4920-A511-B65BE0503145}"/>
              </a:ext>
            </a:extLst>
          </p:cNvPr>
          <p:cNvPicPr>
            <a:picLocks noChangeAspect="1"/>
          </p:cNvPicPr>
          <p:nvPr/>
        </p:nvPicPr>
        <p:blipFill>
          <a:blip r:embed="rId2">
            <a:duotone>
              <a:prstClr val="black"/>
              <a:schemeClr val="accent5">
                <a:tint val="45000"/>
                <a:satMod val="400000"/>
              </a:schemeClr>
            </a:duotone>
          </a:blip>
          <a:stretch>
            <a:fillRect/>
          </a:stretch>
        </p:blipFill>
        <p:spPr>
          <a:xfrm>
            <a:off x="251979" y="724414"/>
            <a:ext cx="11313101" cy="1150720"/>
          </a:xfrm>
          <a:prstGeom prst="rect">
            <a:avLst/>
          </a:prstGeom>
        </p:spPr>
      </p:pic>
      <p:pic>
        <p:nvPicPr>
          <p:cNvPr id="6" name="Picture 5">
            <a:extLst>
              <a:ext uri="{FF2B5EF4-FFF2-40B4-BE49-F238E27FC236}">
                <a16:creationId xmlns:a16="http://schemas.microsoft.com/office/drawing/2014/main" id="{9649DEC9-4B85-1695-2F42-8ED6A89B473B}"/>
              </a:ext>
            </a:extLst>
          </p:cNvPr>
          <p:cNvPicPr>
            <a:picLocks noChangeAspect="1"/>
          </p:cNvPicPr>
          <p:nvPr/>
        </p:nvPicPr>
        <p:blipFill>
          <a:blip r:embed="rId3"/>
          <a:stretch>
            <a:fillRect/>
          </a:stretch>
        </p:blipFill>
        <p:spPr>
          <a:xfrm>
            <a:off x="0" y="2292055"/>
            <a:ext cx="8934450" cy="4565946"/>
          </a:xfrm>
          <a:prstGeom prst="rect">
            <a:avLst/>
          </a:prstGeom>
        </p:spPr>
      </p:pic>
      <p:sp>
        <p:nvSpPr>
          <p:cNvPr id="8" name="TextBox 7">
            <a:extLst>
              <a:ext uri="{FF2B5EF4-FFF2-40B4-BE49-F238E27FC236}">
                <a16:creationId xmlns:a16="http://schemas.microsoft.com/office/drawing/2014/main" id="{36C88903-634F-9A69-74C3-D80AB529631A}"/>
              </a:ext>
            </a:extLst>
          </p:cNvPr>
          <p:cNvSpPr txBox="1"/>
          <p:nvPr/>
        </p:nvSpPr>
        <p:spPr>
          <a:xfrm>
            <a:off x="251978" y="1906912"/>
            <a:ext cx="8682471" cy="369332"/>
          </a:xfrm>
          <a:prstGeom prst="rect">
            <a:avLst/>
          </a:prstGeom>
          <a:noFill/>
        </p:spPr>
        <p:txBody>
          <a:bodyPr wrap="square">
            <a:spAutoFit/>
          </a:bodyPr>
          <a:lstStyle/>
          <a:p>
            <a:r>
              <a:rPr lang="en-US"/>
              <a:t>&lt;AxesSubplot:title={'center':'correlated with class '}&gt;</a:t>
            </a:r>
            <a:endParaRPr lang="en-IN"/>
          </a:p>
        </p:txBody>
      </p:sp>
    </p:spTree>
    <p:extLst>
      <p:ext uri="{BB962C8B-B14F-4D97-AF65-F5344CB8AC3E}">
        <p14:creationId xmlns:p14="http://schemas.microsoft.com/office/powerpoint/2010/main" val="3896511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1E423C-9F17-5157-E33B-627BA9E2EA44}"/>
              </a:ext>
            </a:extLst>
          </p:cNvPr>
          <p:cNvPicPr>
            <a:picLocks noChangeAspect="1"/>
          </p:cNvPicPr>
          <p:nvPr/>
        </p:nvPicPr>
        <p:blipFill>
          <a:blip r:embed="rId2">
            <a:duotone>
              <a:prstClr val="black"/>
              <a:schemeClr val="accent5">
                <a:tint val="45000"/>
                <a:satMod val="400000"/>
              </a:schemeClr>
            </a:duotone>
          </a:blip>
          <a:stretch>
            <a:fillRect/>
          </a:stretch>
        </p:blipFill>
        <p:spPr>
          <a:xfrm>
            <a:off x="204026" y="169314"/>
            <a:ext cx="10467438" cy="1303133"/>
          </a:xfrm>
          <a:prstGeom prst="rect">
            <a:avLst/>
          </a:prstGeom>
        </p:spPr>
      </p:pic>
      <p:pic>
        <p:nvPicPr>
          <p:cNvPr id="4" name="Picture 3">
            <a:extLst>
              <a:ext uri="{FF2B5EF4-FFF2-40B4-BE49-F238E27FC236}">
                <a16:creationId xmlns:a16="http://schemas.microsoft.com/office/drawing/2014/main" id="{FCC17F3D-6503-AAA8-A30B-0838118CF771}"/>
              </a:ext>
            </a:extLst>
          </p:cNvPr>
          <p:cNvPicPr>
            <a:picLocks noChangeAspect="1"/>
          </p:cNvPicPr>
          <p:nvPr/>
        </p:nvPicPr>
        <p:blipFill>
          <a:blip r:embed="rId3"/>
          <a:stretch>
            <a:fillRect/>
          </a:stretch>
        </p:blipFill>
        <p:spPr>
          <a:xfrm>
            <a:off x="204026" y="1472447"/>
            <a:ext cx="10467438" cy="5267325"/>
          </a:xfrm>
          <a:prstGeom prst="rect">
            <a:avLst/>
          </a:prstGeom>
        </p:spPr>
      </p:pic>
    </p:spTree>
    <p:extLst>
      <p:ext uri="{BB962C8B-B14F-4D97-AF65-F5344CB8AC3E}">
        <p14:creationId xmlns:p14="http://schemas.microsoft.com/office/powerpoint/2010/main" val="2800254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7378DC-BD1F-BEAA-7AFD-B29ECFC10439}"/>
              </a:ext>
            </a:extLst>
          </p:cNvPr>
          <p:cNvPicPr>
            <a:picLocks noChangeAspect="1"/>
          </p:cNvPicPr>
          <p:nvPr/>
        </p:nvPicPr>
        <p:blipFill>
          <a:blip r:embed="rId2">
            <a:duotone>
              <a:prstClr val="black"/>
              <a:schemeClr val="tx2">
                <a:tint val="45000"/>
                <a:satMod val="400000"/>
              </a:schemeClr>
            </a:duotone>
          </a:blip>
          <a:stretch>
            <a:fillRect/>
          </a:stretch>
        </p:blipFill>
        <p:spPr>
          <a:xfrm>
            <a:off x="184256" y="192388"/>
            <a:ext cx="10663853" cy="3974367"/>
          </a:xfrm>
          <a:prstGeom prst="rect">
            <a:avLst/>
          </a:prstGeom>
        </p:spPr>
      </p:pic>
      <p:pic>
        <p:nvPicPr>
          <p:cNvPr id="5" name="Picture 4">
            <a:extLst>
              <a:ext uri="{FF2B5EF4-FFF2-40B4-BE49-F238E27FC236}">
                <a16:creationId xmlns:a16="http://schemas.microsoft.com/office/drawing/2014/main" id="{B46344B0-299B-D254-BA1F-CDB9E8B5EBC6}"/>
              </a:ext>
            </a:extLst>
          </p:cNvPr>
          <p:cNvPicPr>
            <a:picLocks noChangeAspect="1"/>
          </p:cNvPicPr>
          <p:nvPr/>
        </p:nvPicPr>
        <p:blipFill>
          <a:blip r:embed="rId3">
            <a:duotone>
              <a:prstClr val="black"/>
              <a:schemeClr val="tx2">
                <a:tint val="45000"/>
                <a:satMod val="400000"/>
              </a:schemeClr>
            </a:duotone>
          </a:blip>
          <a:stretch>
            <a:fillRect/>
          </a:stretch>
        </p:blipFill>
        <p:spPr>
          <a:xfrm>
            <a:off x="184255" y="4014543"/>
            <a:ext cx="9427335" cy="2843457"/>
          </a:xfrm>
          <a:prstGeom prst="rect">
            <a:avLst/>
          </a:prstGeom>
        </p:spPr>
      </p:pic>
    </p:spTree>
    <p:extLst>
      <p:ext uri="{BB962C8B-B14F-4D97-AF65-F5344CB8AC3E}">
        <p14:creationId xmlns:p14="http://schemas.microsoft.com/office/powerpoint/2010/main" val="230271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67A8CB-9A7E-2AE8-D454-3C2769C72A9A}"/>
              </a:ext>
            </a:extLst>
          </p:cNvPr>
          <p:cNvSpPr txBox="1"/>
          <p:nvPr/>
        </p:nvSpPr>
        <p:spPr>
          <a:xfrm>
            <a:off x="303934" y="168625"/>
            <a:ext cx="11094894" cy="461665"/>
          </a:xfrm>
          <a:prstGeom prst="rect">
            <a:avLst/>
          </a:prstGeom>
          <a:solidFill>
            <a:schemeClr val="accent6">
              <a:lumMod val="75000"/>
            </a:schemeClr>
          </a:solidFill>
        </p:spPr>
        <p:txBody>
          <a:bodyPr wrap="square">
            <a:spAutoFit/>
          </a:bodyPr>
          <a:lstStyle/>
          <a:p>
            <a:r>
              <a:rPr lang="en-IN" sz="2400"/>
              <a:t>Feature scaling :</a:t>
            </a:r>
          </a:p>
        </p:txBody>
      </p:sp>
      <p:pic>
        <p:nvPicPr>
          <p:cNvPr id="5" name="Picture 4">
            <a:extLst>
              <a:ext uri="{FF2B5EF4-FFF2-40B4-BE49-F238E27FC236}">
                <a16:creationId xmlns:a16="http://schemas.microsoft.com/office/drawing/2014/main" id="{27F16C82-2B09-98C6-B52E-6E18A52CDCCE}"/>
              </a:ext>
            </a:extLst>
          </p:cNvPr>
          <p:cNvPicPr>
            <a:picLocks noChangeAspect="1"/>
          </p:cNvPicPr>
          <p:nvPr/>
        </p:nvPicPr>
        <p:blipFill>
          <a:blip r:embed="rId2">
            <a:duotone>
              <a:prstClr val="black"/>
              <a:schemeClr val="tx2">
                <a:tint val="45000"/>
                <a:satMod val="400000"/>
              </a:schemeClr>
            </a:duotone>
          </a:blip>
          <a:stretch>
            <a:fillRect/>
          </a:stretch>
        </p:blipFill>
        <p:spPr>
          <a:xfrm>
            <a:off x="303931" y="630290"/>
            <a:ext cx="11094893" cy="2042337"/>
          </a:xfrm>
          <a:prstGeom prst="rect">
            <a:avLst/>
          </a:prstGeom>
        </p:spPr>
      </p:pic>
      <p:sp>
        <p:nvSpPr>
          <p:cNvPr id="7" name="TextBox 6">
            <a:extLst>
              <a:ext uri="{FF2B5EF4-FFF2-40B4-BE49-F238E27FC236}">
                <a16:creationId xmlns:a16="http://schemas.microsoft.com/office/drawing/2014/main" id="{FC18D52C-CC6E-73A6-920D-7F2CA9392A4F}"/>
              </a:ext>
            </a:extLst>
          </p:cNvPr>
          <p:cNvSpPr txBox="1"/>
          <p:nvPr/>
        </p:nvSpPr>
        <p:spPr>
          <a:xfrm>
            <a:off x="303931" y="2672627"/>
            <a:ext cx="11094892" cy="646331"/>
          </a:xfrm>
          <a:prstGeom prst="rect">
            <a:avLst/>
          </a:prstGeom>
          <a:solidFill>
            <a:schemeClr val="accent5">
              <a:lumMod val="75000"/>
            </a:schemeClr>
          </a:solidFill>
        </p:spPr>
        <p:txBody>
          <a:bodyPr wrap="square">
            <a:spAutoFit/>
          </a:bodyPr>
          <a:lstStyle/>
          <a:p>
            <a:r>
              <a:rPr lang="en-IN" sz="3600"/>
              <a:t>Building the model :</a:t>
            </a:r>
          </a:p>
        </p:txBody>
      </p:sp>
      <p:sp>
        <p:nvSpPr>
          <p:cNvPr id="9" name="TextBox 8">
            <a:extLst>
              <a:ext uri="{FF2B5EF4-FFF2-40B4-BE49-F238E27FC236}">
                <a16:creationId xmlns:a16="http://schemas.microsoft.com/office/drawing/2014/main" id="{094E7E58-8223-B204-D7B3-40471FCD11B9}"/>
              </a:ext>
            </a:extLst>
          </p:cNvPr>
          <p:cNvSpPr txBox="1"/>
          <p:nvPr/>
        </p:nvSpPr>
        <p:spPr>
          <a:xfrm>
            <a:off x="303929" y="3318958"/>
            <a:ext cx="11094891" cy="461665"/>
          </a:xfrm>
          <a:prstGeom prst="rect">
            <a:avLst/>
          </a:prstGeom>
          <a:solidFill>
            <a:schemeClr val="accent2">
              <a:lumMod val="60000"/>
              <a:lumOff val="40000"/>
            </a:schemeClr>
          </a:solidFill>
        </p:spPr>
        <p:txBody>
          <a:bodyPr wrap="square">
            <a:spAutoFit/>
          </a:bodyPr>
          <a:lstStyle/>
          <a:p>
            <a:r>
              <a:rPr lang="en-IN" sz="2400"/>
              <a:t>Logistic regression :</a:t>
            </a:r>
          </a:p>
        </p:txBody>
      </p:sp>
      <p:pic>
        <p:nvPicPr>
          <p:cNvPr id="11" name="Picture 10">
            <a:extLst>
              <a:ext uri="{FF2B5EF4-FFF2-40B4-BE49-F238E27FC236}">
                <a16:creationId xmlns:a16="http://schemas.microsoft.com/office/drawing/2014/main" id="{AF78E620-8264-23E3-04AF-6DE5CBA66AFE}"/>
              </a:ext>
            </a:extLst>
          </p:cNvPr>
          <p:cNvPicPr>
            <a:picLocks noChangeAspect="1"/>
          </p:cNvPicPr>
          <p:nvPr/>
        </p:nvPicPr>
        <p:blipFill>
          <a:blip r:embed="rId3">
            <a:duotone>
              <a:prstClr val="black"/>
              <a:schemeClr val="tx2">
                <a:tint val="45000"/>
                <a:satMod val="400000"/>
              </a:schemeClr>
            </a:duotone>
          </a:blip>
          <a:stretch>
            <a:fillRect/>
          </a:stretch>
        </p:blipFill>
        <p:spPr>
          <a:xfrm>
            <a:off x="303929" y="3780623"/>
            <a:ext cx="6408598" cy="2908752"/>
          </a:xfrm>
          <a:prstGeom prst="rect">
            <a:avLst/>
          </a:prstGeom>
        </p:spPr>
      </p:pic>
    </p:spTree>
    <p:extLst>
      <p:ext uri="{BB962C8B-B14F-4D97-AF65-F5344CB8AC3E}">
        <p14:creationId xmlns:p14="http://schemas.microsoft.com/office/powerpoint/2010/main" val="156373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F7D94B-D27F-A9F3-7DC5-9C78F1BD8D6F}"/>
              </a:ext>
            </a:extLst>
          </p:cNvPr>
          <p:cNvSpPr txBox="1"/>
          <p:nvPr/>
        </p:nvSpPr>
        <p:spPr>
          <a:xfrm>
            <a:off x="259773" y="228206"/>
            <a:ext cx="11367654" cy="369332"/>
          </a:xfrm>
          <a:prstGeom prst="rect">
            <a:avLst/>
          </a:prstGeom>
          <a:solidFill>
            <a:schemeClr val="bg1">
              <a:lumMod val="50000"/>
            </a:schemeClr>
          </a:solidFill>
        </p:spPr>
        <p:txBody>
          <a:bodyPr wrap="square" rtlCol="0">
            <a:spAutoFit/>
          </a:bodyPr>
          <a:lstStyle/>
          <a:p>
            <a:r>
              <a:rPr lang="en-IN"/>
              <a:t>Accuracy and Confusion Matrix of Logistic Regression Model :</a:t>
            </a:r>
          </a:p>
        </p:txBody>
      </p:sp>
      <p:pic>
        <p:nvPicPr>
          <p:cNvPr id="4" name="Picture 3">
            <a:extLst>
              <a:ext uri="{FF2B5EF4-FFF2-40B4-BE49-F238E27FC236}">
                <a16:creationId xmlns:a16="http://schemas.microsoft.com/office/drawing/2014/main" id="{6862FBC4-CB83-9402-385D-983E1C42C554}"/>
              </a:ext>
            </a:extLst>
          </p:cNvPr>
          <p:cNvPicPr>
            <a:picLocks noChangeAspect="1"/>
          </p:cNvPicPr>
          <p:nvPr/>
        </p:nvPicPr>
        <p:blipFill>
          <a:blip r:embed="rId2">
            <a:duotone>
              <a:prstClr val="black"/>
              <a:srgbClr val="D9C3A5">
                <a:tint val="50000"/>
                <a:satMod val="180000"/>
              </a:srgbClr>
            </a:duotone>
          </a:blip>
          <a:stretch>
            <a:fillRect/>
          </a:stretch>
        </p:blipFill>
        <p:spPr>
          <a:xfrm>
            <a:off x="259773" y="566761"/>
            <a:ext cx="8832272" cy="3070058"/>
          </a:xfrm>
          <a:prstGeom prst="rect">
            <a:avLst/>
          </a:prstGeom>
        </p:spPr>
      </p:pic>
      <p:sp>
        <p:nvSpPr>
          <p:cNvPr id="6" name="TextBox 5">
            <a:extLst>
              <a:ext uri="{FF2B5EF4-FFF2-40B4-BE49-F238E27FC236}">
                <a16:creationId xmlns:a16="http://schemas.microsoft.com/office/drawing/2014/main" id="{24CA0CCB-30FA-73E2-1C4E-48A0280BC6B2}"/>
              </a:ext>
            </a:extLst>
          </p:cNvPr>
          <p:cNvSpPr txBox="1"/>
          <p:nvPr/>
        </p:nvSpPr>
        <p:spPr>
          <a:xfrm>
            <a:off x="259773" y="3667597"/>
            <a:ext cx="11367654" cy="400110"/>
          </a:xfrm>
          <a:prstGeom prst="rect">
            <a:avLst/>
          </a:prstGeom>
          <a:solidFill>
            <a:schemeClr val="accent2">
              <a:lumMod val="60000"/>
              <a:lumOff val="40000"/>
            </a:schemeClr>
          </a:solidFill>
        </p:spPr>
        <p:txBody>
          <a:bodyPr wrap="square">
            <a:spAutoFit/>
          </a:bodyPr>
          <a:lstStyle/>
          <a:p>
            <a:r>
              <a:rPr lang="en-IN" sz="2000"/>
              <a:t>Random forest :</a:t>
            </a:r>
          </a:p>
        </p:txBody>
      </p:sp>
      <p:pic>
        <p:nvPicPr>
          <p:cNvPr id="8" name="Picture 7">
            <a:extLst>
              <a:ext uri="{FF2B5EF4-FFF2-40B4-BE49-F238E27FC236}">
                <a16:creationId xmlns:a16="http://schemas.microsoft.com/office/drawing/2014/main" id="{14DBA914-E885-C94E-D9C0-6CD7975E1E76}"/>
              </a:ext>
            </a:extLst>
          </p:cNvPr>
          <p:cNvPicPr>
            <a:picLocks noChangeAspect="1"/>
          </p:cNvPicPr>
          <p:nvPr/>
        </p:nvPicPr>
        <p:blipFill>
          <a:blip r:embed="rId3">
            <a:duotone>
              <a:prstClr val="black"/>
              <a:schemeClr val="tx2">
                <a:tint val="45000"/>
                <a:satMod val="400000"/>
              </a:schemeClr>
            </a:duotone>
          </a:blip>
          <a:stretch>
            <a:fillRect/>
          </a:stretch>
        </p:blipFill>
        <p:spPr>
          <a:xfrm>
            <a:off x="259773" y="4098485"/>
            <a:ext cx="8832272" cy="2759515"/>
          </a:xfrm>
          <a:prstGeom prst="rect">
            <a:avLst/>
          </a:prstGeom>
        </p:spPr>
      </p:pic>
    </p:spTree>
    <p:extLst>
      <p:ext uri="{BB962C8B-B14F-4D97-AF65-F5344CB8AC3E}">
        <p14:creationId xmlns:p14="http://schemas.microsoft.com/office/powerpoint/2010/main" val="2255447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562624-ED36-2AD4-D6D2-EDDC5EFFE580}"/>
              </a:ext>
            </a:extLst>
          </p:cNvPr>
          <p:cNvSpPr txBox="1"/>
          <p:nvPr/>
        </p:nvSpPr>
        <p:spPr>
          <a:xfrm>
            <a:off x="228599" y="145473"/>
            <a:ext cx="11118273" cy="369332"/>
          </a:xfrm>
          <a:prstGeom prst="rect">
            <a:avLst/>
          </a:prstGeom>
          <a:solidFill>
            <a:schemeClr val="bg1">
              <a:lumMod val="50000"/>
            </a:schemeClr>
          </a:solidFill>
        </p:spPr>
        <p:txBody>
          <a:bodyPr wrap="square" rtlCol="0">
            <a:spAutoFit/>
          </a:bodyPr>
          <a:lstStyle/>
          <a:p>
            <a:r>
              <a:rPr lang="en-IN"/>
              <a:t>Accuracy and Confusion Matrix of Random Forest Classifier :</a:t>
            </a:r>
          </a:p>
        </p:txBody>
      </p:sp>
      <p:pic>
        <p:nvPicPr>
          <p:cNvPr id="6" name="Picture 5">
            <a:extLst>
              <a:ext uri="{FF2B5EF4-FFF2-40B4-BE49-F238E27FC236}">
                <a16:creationId xmlns:a16="http://schemas.microsoft.com/office/drawing/2014/main" id="{0D9E2C64-120D-5ED0-91A2-C7AB6B974D97}"/>
              </a:ext>
            </a:extLst>
          </p:cNvPr>
          <p:cNvPicPr>
            <a:picLocks noChangeAspect="1"/>
          </p:cNvPicPr>
          <p:nvPr/>
        </p:nvPicPr>
        <p:blipFill>
          <a:blip r:embed="rId2">
            <a:duotone>
              <a:prstClr val="black"/>
              <a:srgbClr val="D9C3A5">
                <a:tint val="50000"/>
                <a:satMod val="180000"/>
              </a:srgbClr>
            </a:duotone>
          </a:blip>
          <a:stretch>
            <a:fillRect/>
          </a:stretch>
        </p:blipFill>
        <p:spPr>
          <a:xfrm>
            <a:off x="228599" y="514805"/>
            <a:ext cx="7606146" cy="2415431"/>
          </a:xfrm>
          <a:prstGeom prst="rect">
            <a:avLst/>
          </a:prstGeom>
        </p:spPr>
      </p:pic>
      <p:pic>
        <p:nvPicPr>
          <p:cNvPr id="10" name="Picture 9">
            <a:extLst>
              <a:ext uri="{FF2B5EF4-FFF2-40B4-BE49-F238E27FC236}">
                <a16:creationId xmlns:a16="http://schemas.microsoft.com/office/drawing/2014/main" id="{835030AD-C506-1A54-2BAF-4D5A16590AD2}"/>
              </a:ext>
            </a:extLst>
          </p:cNvPr>
          <p:cNvPicPr>
            <a:picLocks noChangeAspect="1"/>
          </p:cNvPicPr>
          <p:nvPr/>
        </p:nvPicPr>
        <p:blipFill>
          <a:blip r:embed="rId3">
            <a:duotone>
              <a:prstClr val="black"/>
              <a:srgbClr val="D9C3A5">
                <a:tint val="50000"/>
                <a:satMod val="180000"/>
              </a:srgbClr>
            </a:duotone>
          </a:blip>
          <a:stretch>
            <a:fillRect/>
          </a:stretch>
        </p:blipFill>
        <p:spPr>
          <a:xfrm>
            <a:off x="228599" y="2930236"/>
            <a:ext cx="7606146" cy="1082134"/>
          </a:xfrm>
          <a:prstGeom prst="rect">
            <a:avLst/>
          </a:prstGeom>
        </p:spPr>
      </p:pic>
      <p:sp>
        <p:nvSpPr>
          <p:cNvPr id="12" name="TextBox 11">
            <a:extLst>
              <a:ext uri="{FF2B5EF4-FFF2-40B4-BE49-F238E27FC236}">
                <a16:creationId xmlns:a16="http://schemas.microsoft.com/office/drawing/2014/main" id="{02572E97-F6FE-F761-0CC3-EFA4CDDC0E4E}"/>
              </a:ext>
            </a:extLst>
          </p:cNvPr>
          <p:cNvSpPr txBox="1"/>
          <p:nvPr/>
        </p:nvSpPr>
        <p:spPr>
          <a:xfrm>
            <a:off x="228599" y="4012370"/>
            <a:ext cx="11118272" cy="369332"/>
          </a:xfrm>
          <a:prstGeom prst="rect">
            <a:avLst/>
          </a:prstGeom>
          <a:solidFill>
            <a:schemeClr val="accent2">
              <a:lumMod val="60000"/>
              <a:lumOff val="40000"/>
            </a:schemeClr>
          </a:solidFill>
        </p:spPr>
        <p:txBody>
          <a:bodyPr wrap="square">
            <a:spAutoFit/>
          </a:bodyPr>
          <a:lstStyle/>
          <a:p>
            <a:r>
              <a:rPr lang="en-IN"/>
              <a:t>XGB Boost Classifier :</a:t>
            </a:r>
          </a:p>
        </p:txBody>
      </p:sp>
      <p:pic>
        <p:nvPicPr>
          <p:cNvPr id="18" name="Picture 17">
            <a:extLst>
              <a:ext uri="{FF2B5EF4-FFF2-40B4-BE49-F238E27FC236}">
                <a16:creationId xmlns:a16="http://schemas.microsoft.com/office/drawing/2014/main" id="{3DD79839-7C3F-CADD-05E4-6C85BBD69943}"/>
              </a:ext>
            </a:extLst>
          </p:cNvPr>
          <p:cNvPicPr>
            <a:picLocks noChangeAspect="1"/>
          </p:cNvPicPr>
          <p:nvPr/>
        </p:nvPicPr>
        <p:blipFill>
          <a:blip r:embed="rId4">
            <a:duotone>
              <a:prstClr val="black"/>
              <a:schemeClr val="tx2">
                <a:tint val="45000"/>
                <a:satMod val="400000"/>
              </a:schemeClr>
            </a:duotone>
          </a:blip>
          <a:stretch>
            <a:fillRect/>
          </a:stretch>
        </p:blipFill>
        <p:spPr>
          <a:xfrm>
            <a:off x="228599" y="4521857"/>
            <a:ext cx="4433096" cy="1598388"/>
          </a:xfrm>
          <a:prstGeom prst="rect">
            <a:avLst/>
          </a:prstGeom>
        </p:spPr>
      </p:pic>
      <p:pic>
        <p:nvPicPr>
          <p:cNvPr id="20" name="Picture 19">
            <a:extLst>
              <a:ext uri="{FF2B5EF4-FFF2-40B4-BE49-F238E27FC236}">
                <a16:creationId xmlns:a16="http://schemas.microsoft.com/office/drawing/2014/main" id="{0799FB50-FDEE-BFBC-33D0-64B39AA8C608}"/>
              </a:ext>
            </a:extLst>
          </p:cNvPr>
          <p:cNvPicPr>
            <a:picLocks noChangeAspect="1"/>
          </p:cNvPicPr>
          <p:nvPr/>
        </p:nvPicPr>
        <p:blipFill>
          <a:blip r:embed="rId5">
            <a:duotone>
              <a:prstClr val="black"/>
              <a:schemeClr val="tx2">
                <a:tint val="45000"/>
                <a:satMod val="400000"/>
              </a:schemeClr>
            </a:duotone>
          </a:blip>
          <a:stretch>
            <a:fillRect/>
          </a:stretch>
        </p:blipFill>
        <p:spPr>
          <a:xfrm>
            <a:off x="4661695" y="4521857"/>
            <a:ext cx="6454699" cy="1598388"/>
          </a:xfrm>
          <a:prstGeom prst="rect">
            <a:avLst/>
          </a:prstGeom>
        </p:spPr>
      </p:pic>
      <p:sp>
        <p:nvSpPr>
          <p:cNvPr id="22" name="TextBox 21">
            <a:extLst>
              <a:ext uri="{FF2B5EF4-FFF2-40B4-BE49-F238E27FC236}">
                <a16:creationId xmlns:a16="http://schemas.microsoft.com/office/drawing/2014/main" id="{53F025A1-525D-DC6D-D7A5-FFEB8B1330A8}"/>
              </a:ext>
            </a:extLst>
          </p:cNvPr>
          <p:cNvSpPr txBox="1"/>
          <p:nvPr/>
        </p:nvSpPr>
        <p:spPr>
          <a:xfrm>
            <a:off x="228599" y="6094382"/>
            <a:ext cx="10887795" cy="369332"/>
          </a:xfrm>
          <a:prstGeom prst="rect">
            <a:avLst/>
          </a:prstGeom>
          <a:solidFill>
            <a:schemeClr val="bg2">
              <a:lumMod val="90000"/>
            </a:schemeClr>
          </a:solidFill>
        </p:spPr>
        <p:txBody>
          <a:bodyPr wrap="square">
            <a:spAutoFit/>
          </a:bodyPr>
          <a:lstStyle/>
          <a:p>
            <a:r>
              <a:rPr lang="en-US"/>
              <a:t>y_pred=classifir_xgb.predict(x_test)</a:t>
            </a:r>
            <a:endParaRPr lang="en-IN"/>
          </a:p>
        </p:txBody>
      </p:sp>
    </p:spTree>
    <p:extLst>
      <p:ext uri="{BB962C8B-B14F-4D97-AF65-F5344CB8AC3E}">
        <p14:creationId xmlns:p14="http://schemas.microsoft.com/office/powerpoint/2010/main" val="2171547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11E3A9-9ABD-76DD-E9B2-D409BBE0C96A}"/>
              </a:ext>
            </a:extLst>
          </p:cNvPr>
          <p:cNvSpPr txBox="1"/>
          <p:nvPr/>
        </p:nvSpPr>
        <p:spPr>
          <a:xfrm>
            <a:off x="244186" y="210189"/>
            <a:ext cx="10853305" cy="369332"/>
          </a:xfrm>
          <a:prstGeom prst="rect">
            <a:avLst/>
          </a:prstGeom>
          <a:solidFill>
            <a:schemeClr val="bg1">
              <a:lumMod val="50000"/>
            </a:schemeClr>
          </a:solidFill>
        </p:spPr>
        <p:txBody>
          <a:bodyPr wrap="square" rtlCol="0">
            <a:spAutoFit/>
          </a:bodyPr>
          <a:lstStyle/>
          <a:p>
            <a:r>
              <a:rPr lang="en-IN"/>
              <a:t>Accuracy and Confusion Matrix of XGB boost Classifier Model :</a:t>
            </a:r>
          </a:p>
        </p:txBody>
      </p:sp>
      <p:pic>
        <p:nvPicPr>
          <p:cNvPr id="6" name="Picture 5">
            <a:extLst>
              <a:ext uri="{FF2B5EF4-FFF2-40B4-BE49-F238E27FC236}">
                <a16:creationId xmlns:a16="http://schemas.microsoft.com/office/drawing/2014/main" id="{6445BABD-6F0F-BE64-6995-16909BE49F2B}"/>
              </a:ext>
            </a:extLst>
          </p:cNvPr>
          <p:cNvPicPr>
            <a:picLocks noChangeAspect="1"/>
          </p:cNvPicPr>
          <p:nvPr/>
        </p:nvPicPr>
        <p:blipFill>
          <a:blip r:embed="rId2">
            <a:duotone>
              <a:prstClr val="black"/>
              <a:srgbClr val="D9C3A5">
                <a:tint val="50000"/>
                <a:satMod val="180000"/>
              </a:srgbClr>
            </a:duotone>
          </a:blip>
          <a:stretch>
            <a:fillRect/>
          </a:stretch>
        </p:blipFill>
        <p:spPr>
          <a:xfrm>
            <a:off x="244186" y="579522"/>
            <a:ext cx="7071014" cy="3181988"/>
          </a:xfrm>
          <a:prstGeom prst="rect">
            <a:avLst/>
          </a:prstGeom>
        </p:spPr>
      </p:pic>
    </p:spTree>
    <p:extLst>
      <p:ext uri="{BB962C8B-B14F-4D97-AF65-F5344CB8AC3E}">
        <p14:creationId xmlns:p14="http://schemas.microsoft.com/office/powerpoint/2010/main" val="399350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20CC3B-851B-C215-54D1-770B630E2B3C}"/>
              </a:ext>
            </a:extLst>
          </p:cNvPr>
          <p:cNvSpPr txBox="1"/>
          <p:nvPr/>
        </p:nvSpPr>
        <p:spPr>
          <a:xfrm>
            <a:off x="272761" y="251753"/>
            <a:ext cx="10887075" cy="523220"/>
          </a:xfrm>
          <a:prstGeom prst="rect">
            <a:avLst/>
          </a:prstGeom>
          <a:solidFill>
            <a:schemeClr val="accent6">
              <a:lumMod val="75000"/>
            </a:schemeClr>
          </a:solidFill>
        </p:spPr>
        <p:txBody>
          <a:bodyPr wrap="square">
            <a:spAutoFit/>
          </a:bodyPr>
          <a:lstStyle/>
          <a:p>
            <a:r>
              <a:rPr lang="en-IN" sz="2800"/>
              <a:t>final model(random forest) :</a:t>
            </a:r>
          </a:p>
        </p:txBody>
      </p:sp>
      <p:pic>
        <p:nvPicPr>
          <p:cNvPr id="5" name="Picture 4">
            <a:extLst>
              <a:ext uri="{FF2B5EF4-FFF2-40B4-BE49-F238E27FC236}">
                <a16:creationId xmlns:a16="http://schemas.microsoft.com/office/drawing/2014/main" id="{BA9D6E72-47C7-F467-4177-BA98D4F3BF17}"/>
              </a:ext>
            </a:extLst>
          </p:cNvPr>
          <p:cNvPicPr>
            <a:picLocks noChangeAspect="1"/>
          </p:cNvPicPr>
          <p:nvPr/>
        </p:nvPicPr>
        <p:blipFill>
          <a:blip r:embed="rId2">
            <a:duotone>
              <a:prstClr val="black"/>
              <a:schemeClr val="accent5">
                <a:tint val="45000"/>
                <a:satMod val="400000"/>
              </a:schemeClr>
            </a:duotone>
          </a:blip>
          <a:stretch>
            <a:fillRect/>
          </a:stretch>
        </p:blipFill>
        <p:spPr>
          <a:xfrm>
            <a:off x="272761" y="774973"/>
            <a:ext cx="9068666" cy="3871295"/>
          </a:xfrm>
          <a:prstGeom prst="rect">
            <a:avLst/>
          </a:prstGeom>
        </p:spPr>
      </p:pic>
      <p:pic>
        <p:nvPicPr>
          <p:cNvPr id="7" name="Picture 6">
            <a:extLst>
              <a:ext uri="{FF2B5EF4-FFF2-40B4-BE49-F238E27FC236}">
                <a16:creationId xmlns:a16="http://schemas.microsoft.com/office/drawing/2014/main" id="{AD7080D8-7147-8E45-68DA-C02BDEFEDB9E}"/>
              </a:ext>
            </a:extLst>
          </p:cNvPr>
          <p:cNvPicPr>
            <a:picLocks noChangeAspect="1"/>
          </p:cNvPicPr>
          <p:nvPr/>
        </p:nvPicPr>
        <p:blipFill>
          <a:blip r:embed="rId3">
            <a:duotone>
              <a:prstClr val="black"/>
              <a:schemeClr val="accent5">
                <a:tint val="45000"/>
                <a:satMod val="400000"/>
              </a:schemeClr>
            </a:duotone>
          </a:blip>
          <a:stretch>
            <a:fillRect/>
          </a:stretch>
        </p:blipFill>
        <p:spPr>
          <a:xfrm>
            <a:off x="272761" y="4646268"/>
            <a:ext cx="9068666" cy="2232853"/>
          </a:xfrm>
          <a:prstGeom prst="rect">
            <a:avLst/>
          </a:prstGeom>
        </p:spPr>
      </p:pic>
    </p:spTree>
    <p:extLst>
      <p:ext uri="{BB962C8B-B14F-4D97-AF65-F5344CB8AC3E}">
        <p14:creationId xmlns:p14="http://schemas.microsoft.com/office/powerpoint/2010/main" val="311513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8D97F4-65F8-435D-FE38-6ACF60C2CEC2}"/>
              </a:ext>
            </a:extLst>
          </p:cNvPr>
          <p:cNvPicPr>
            <a:picLocks noChangeAspect="1"/>
          </p:cNvPicPr>
          <p:nvPr/>
        </p:nvPicPr>
        <p:blipFill>
          <a:blip r:embed="rId2">
            <a:duotone>
              <a:prstClr val="black"/>
              <a:schemeClr val="accent6">
                <a:tint val="45000"/>
                <a:satMod val="400000"/>
              </a:schemeClr>
            </a:duotone>
          </a:blip>
          <a:stretch>
            <a:fillRect/>
          </a:stretch>
        </p:blipFill>
        <p:spPr>
          <a:xfrm>
            <a:off x="238882" y="213081"/>
            <a:ext cx="10508891" cy="3215919"/>
          </a:xfrm>
          <a:prstGeom prst="rect">
            <a:avLst/>
          </a:prstGeom>
        </p:spPr>
      </p:pic>
    </p:spTree>
    <p:extLst>
      <p:ext uri="{BB962C8B-B14F-4D97-AF65-F5344CB8AC3E}">
        <p14:creationId xmlns:p14="http://schemas.microsoft.com/office/powerpoint/2010/main" val="2009831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9432FB-8BC6-4916-BD17-8F5D3E125AEC}"/>
              </a:ext>
            </a:extLst>
          </p:cNvPr>
          <p:cNvSpPr txBox="1"/>
          <p:nvPr/>
        </p:nvSpPr>
        <p:spPr>
          <a:xfrm>
            <a:off x="335106" y="189684"/>
            <a:ext cx="11229976" cy="2369880"/>
          </a:xfrm>
          <a:prstGeom prst="rect">
            <a:avLst/>
          </a:prstGeom>
          <a:solidFill>
            <a:schemeClr val="accent5">
              <a:lumMod val="75000"/>
            </a:schemeClr>
          </a:solidFill>
        </p:spPr>
        <p:txBody>
          <a:bodyPr wrap="square">
            <a:spAutoFit/>
          </a:bodyPr>
          <a:lstStyle/>
          <a:p>
            <a:r>
              <a:rPr lang="en-IN" sz="4000"/>
              <a:t># calculate roc curve :</a:t>
            </a:r>
          </a:p>
          <a:p>
            <a:r>
              <a:rPr lang="en-IN"/>
              <a:t>from sklearn.metrics import roc_auc_score, classification_report, roc_curve, auc, plot_confusion_matrix</a:t>
            </a:r>
          </a:p>
          <a:p>
            <a:r>
              <a:rPr lang="en-IN"/>
              <a:t>fpr,tpr,thresholds = roc_curve(y_test,y_pred) </a:t>
            </a:r>
          </a:p>
          <a:p>
            <a:r>
              <a:rPr lang="en-IN"/>
              <a:t>roc_auc = auc(fpr,tpr)</a:t>
            </a:r>
          </a:p>
          <a:p>
            <a:r>
              <a:rPr lang="en-IN"/>
              <a:t>roc_auc</a:t>
            </a:r>
          </a:p>
          <a:p>
            <a:endParaRPr lang="en-IN"/>
          </a:p>
          <a:p>
            <a:r>
              <a:rPr lang="en-IN"/>
              <a:t>0.5624882776325506</a:t>
            </a:r>
          </a:p>
        </p:txBody>
      </p:sp>
      <p:pic>
        <p:nvPicPr>
          <p:cNvPr id="5" name="Picture 4">
            <a:extLst>
              <a:ext uri="{FF2B5EF4-FFF2-40B4-BE49-F238E27FC236}">
                <a16:creationId xmlns:a16="http://schemas.microsoft.com/office/drawing/2014/main" id="{B8D3A335-0047-6B5A-DD4B-750706EBDA52}"/>
              </a:ext>
            </a:extLst>
          </p:cNvPr>
          <p:cNvPicPr>
            <a:picLocks noChangeAspect="1"/>
          </p:cNvPicPr>
          <p:nvPr/>
        </p:nvPicPr>
        <p:blipFill>
          <a:blip r:embed="rId2">
            <a:duotone>
              <a:prstClr val="black"/>
              <a:schemeClr val="tx2">
                <a:tint val="45000"/>
                <a:satMod val="400000"/>
              </a:schemeClr>
            </a:duotone>
          </a:blip>
          <a:stretch>
            <a:fillRect/>
          </a:stretch>
        </p:blipFill>
        <p:spPr>
          <a:xfrm>
            <a:off x="335106" y="2559564"/>
            <a:ext cx="9827203" cy="3795089"/>
          </a:xfrm>
          <a:prstGeom prst="rect">
            <a:avLst/>
          </a:prstGeom>
        </p:spPr>
      </p:pic>
    </p:spTree>
    <p:extLst>
      <p:ext uri="{BB962C8B-B14F-4D97-AF65-F5344CB8AC3E}">
        <p14:creationId xmlns:p14="http://schemas.microsoft.com/office/powerpoint/2010/main" val="170470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4A25DA-F8D0-CF1F-E82F-F71C4949942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1311852" y="353723"/>
            <a:ext cx="9048750" cy="5153025"/>
          </a:xfrm>
          <a:prstGeom prst="rect">
            <a:avLst/>
          </a:prstGeom>
        </p:spPr>
      </p:pic>
    </p:spTree>
    <p:extLst>
      <p:ext uri="{BB962C8B-B14F-4D97-AF65-F5344CB8AC3E}">
        <p14:creationId xmlns:p14="http://schemas.microsoft.com/office/powerpoint/2010/main" val="3981700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19D111-F8BA-3637-4ABB-DD359BF16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106684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156</TotalTime>
  <Words>518</Words>
  <Application>Microsoft Office PowerPoint</Application>
  <PresentationFormat>Widescreen</PresentationFormat>
  <Paragraphs>39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Algerian</vt: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SOUMYAJIT BEHERA</dc:creator>
  <cp:lastModifiedBy>SOUMYAJIT BEHERA</cp:lastModifiedBy>
  <cp:revision>2</cp:revision>
  <dcterms:created xsi:type="dcterms:W3CDTF">2023-01-25T08:01:47Z</dcterms:created>
  <dcterms:modified xsi:type="dcterms:W3CDTF">2023-01-25T10:37:50Z</dcterms:modified>
</cp:coreProperties>
</file>